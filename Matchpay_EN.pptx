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7"/>
  </p:notesMasterIdLst>
  <p:sldIdLst>
    <p:sldId id="141168964" r:id="rId5"/>
    <p:sldId id="141168968" r:id="rId6"/>
    <p:sldId id="141168969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75" autoAdjust="0"/>
    <p:restoredTop sz="92857" autoAdjust="0"/>
  </p:normalViewPr>
  <p:slideViewPr>
    <p:cSldViewPr snapToGrid="0">
      <p:cViewPr varScale="1">
        <p:scale>
          <a:sx n="99" d="100"/>
          <a:sy n="99" d="100"/>
        </p:scale>
        <p:origin x="17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  <Relationship Id="rId12" Type="http://schemas.openxmlformats.org/officeDocument/2006/relationships/slide" Target="slides/slide3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6FFF8-ED08-43B8-89AB-2F3A7047E44E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B78BD7-4CB6-4FCA-AB30-6F3DBD193D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5577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78BD7-4CB6-4FCA-AB30-6F3DBD193DD6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0388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78BD7-4CB6-4FCA-AB30-6F3DBD193DD6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1547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F0DB-C9D5-4958-8703-03A9CAB12500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E6251-502F-4BC9-828D-BB6EE3A9153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4785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F0DB-C9D5-4958-8703-03A9CAB12500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E6251-502F-4BC9-828D-BB6EE3A9153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2499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F0DB-C9D5-4958-8703-03A9CAB12500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E6251-502F-4BC9-828D-BB6EE3A9153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0562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F0DB-C9D5-4958-8703-03A9CAB12500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E6251-502F-4BC9-828D-BB6EE3A9153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1321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F0DB-C9D5-4958-8703-03A9CAB12500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E6251-502F-4BC9-828D-BB6EE3A9153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3046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F0DB-C9D5-4958-8703-03A9CAB12500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E6251-502F-4BC9-828D-BB6EE3A9153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7584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F0DB-C9D5-4958-8703-03A9CAB12500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E6251-502F-4BC9-828D-BB6EE3A9153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3732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F0DB-C9D5-4958-8703-03A9CAB12500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E6251-502F-4BC9-828D-BB6EE3A9153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1828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F0DB-C9D5-4958-8703-03A9CAB12500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E6251-502F-4BC9-828D-BB6EE3A9153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6292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F0DB-C9D5-4958-8703-03A9CAB12500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E6251-502F-4BC9-828D-BB6EE3A9153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2031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F0DB-C9D5-4958-8703-03A9CAB12500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E6251-502F-4BC9-828D-BB6EE3A9153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6031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&amp; Hero cop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B2A948A-91F8-A641-A02C-6FDA746D01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854238"/>
            <a:ext cx="9144000" cy="736600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14E0EBA-6B2C-AA4F-8B3E-C5167032F3D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83997" y="1701800"/>
            <a:ext cx="4092754" cy="4271802"/>
          </a:xfrm>
          <a:prstGeom prst="rect">
            <a:avLst/>
          </a:prstGeom>
        </p:spPr>
        <p:txBody>
          <a:bodyPr l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rgbClr val="FF7900"/>
                </a:solidFill>
              </a:defRPr>
            </a:lvl1pPr>
          </a:lstStyle>
          <a:p>
            <a:pPr lvl="0"/>
            <a:r>
              <a:rPr lang="en-US" dirty="0"/>
              <a:t>Click to edit Hero copy slide</a:t>
            </a:r>
            <a:endParaRPr lang="en-GB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09E07203-D8BE-7144-9CB3-754FAA3B7E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997" y="468744"/>
            <a:ext cx="7353638" cy="552227"/>
          </a:xfrm>
          <a:prstGeom prst="rect">
            <a:avLst/>
          </a:prstGeom>
        </p:spPr>
        <p:txBody>
          <a:bodyPr lIns="0"/>
          <a:lstStyle>
            <a:lvl1pPr algn="l">
              <a:defRPr sz="1950" b="0">
                <a:solidFill>
                  <a:srgbClr val="4D4D4D"/>
                </a:solidFill>
              </a:defRPr>
            </a:lvl1pPr>
          </a:lstStyle>
          <a:p>
            <a:r>
              <a:rPr lang="en-US" dirty="0"/>
              <a:t>Click to insert title here</a:t>
            </a:r>
            <a:endParaRPr lang="en-GB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2327B73-586B-D64E-AF54-689BD8EF4933}"/>
              </a:ext>
            </a:extLst>
          </p:cNvPr>
          <p:cNvCxnSpPr>
            <a:cxnSpLocks/>
          </p:cNvCxnSpPr>
          <p:nvPr userDrawn="1"/>
        </p:nvCxnSpPr>
        <p:spPr>
          <a:xfrm>
            <a:off x="390231" y="1168767"/>
            <a:ext cx="696190" cy="0"/>
          </a:xfrm>
          <a:prstGeom prst="line">
            <a:avLst/>
          </a:prstGeom>
          <a:ln w="31750">
            <a:solidFill>
              <a:srgbClr val="FF7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BA23C9C2-86C1-8944-80BD-47F0F0D0D01A}"/>
              </a:ext>
            </a:extLst>
          </p:cNvPr>
          <p:cNvSpPr/>
          <p:nvPr userDrawn="1"/>
        </p:nvSpPr>
        <p:spPr>
          <a:xfrm>
            <a:off x="6510760" y="6561341"/>
            <a:ext cx="25650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900" b="1" kern="1200">
                <a:solidFill>
                  <a:srgbClr val="FF7900"/>
                </a:solidFill>
                <a:latin typeface="+mn-lt"/>
                <a:ea typeface="+mn-ea"/>
                <a:cs typeface="+mn-cs"/>
              </a:rPr>
              <a:t>Iberia SSC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60E4A6F-C4E5-F74B-AF83-4484DF1577F3}"/>
              </a:ext>
            </a:extLst>
          </p:cNvPr>
          <p:cNvCxnSpPr>
            <a:cxnSpLocks/>
          </p:cNvCxnSpPr>
          <p:nvPr userDrawn="1"/>
        </p:nvCxnSpPr>
        <p:spPr>
          <a:xfrm flipH="1">
            <a:off x="8840585" y="267530"/>
            <a:ext cx="303416" cy="0"/>
          </a:xfrm>
          <a:prstGeom prst="line">
            <a:avLst/>
          </a:prstGeom>
          <a:ln w="50800">
            <a:solidFill>
              <a:srgbClr val="FF7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B8B175D2-B1C9-504C-BE4E-1DA845348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1069" y="296660"/>
            <a:ext cx="586310" cy="216371"/>
          </a:xfrm>
          <a:prstGeom prst="rect">
            <a:avLst/>
          </a:prstGeom>
        </p:spPr>
        <p:txBody>
          <a:bodyPr/>
          <a:lstStyle>
            <a:lvl1pPr algn="l">
              <a:defRPr sz="900" b="0">
                <a:solidFill>
                  <a:srgbClr val="A3A3A3"/>
                </a:solidFill>
              </a:defRPr>
            </a:lvl1pPr>
          </a:lstStyle>
          <a:p>
            <a:fld id="{7973176A-146B-4E61-BA6F-E97A08C604D1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3773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FF0DB-C9D5-4958-8703-03A9CAB12500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E6251-502F-4BC9-828D-BB6EE3A91538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MSIPCMContentMarking" descr="{&quot;HashCode&quot;:-990010119,&quot;Placement&quot;:&quot;Footer&quot;}">
            <a:extLst>
              <a:ext uri="{FF2B5EF4-FFF2-40B4-BE49-F238E27FC236}">
                <a16:creationId xmlns:a16="http://schemas.microsoft.com/office/drawing/2014/main" id="{9A8B7B32-E8D0-7943-8903-AC09882499F3}"/>
              </a:ext>
            </a:extLst>
          </p:cNvPr>
          <p:cNvSpPr txBox="1"/>
          <p:nvPr userDrawn="1"/>
        </p:nvSpPr>
        <p:spPr>
          <a:xfrm>
            <a:off x="0" y="6595656"/>
            <a:ext cx="139360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ES" sz="1000">
                <a:solidFill>
                  <a:srgbClr val="000000"/>
                </a:solidFill>
                <a:latin typeface="Calibri" panose="020F0502020204030204" pitchFamily="34" charset="0"/>
              </a:rPr>
              <a:t>DS Smith – INTERNAL</a:t>
            </a:r>
          </a:p>
        </p:txBody>
      </p:sp>
    </p:spTree>
    <p:extLst>
      <p:ext uri="{BB962C8B-B14F-4D97-AF65-F5344CB8AC3E}">
        <p14:creationId xmlns:p14="http://schemas.microsoft.com/office/powerpoint/2010/main" val="3417948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40FA531-EE37-4A54-923F-D29E766F5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365" y="404845"/>
            <a:ext cx="7188995" cy="414170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+mn-lt"/>
              </a:rPr>
              <a:t>Matchpay – AS IS</a:t>
            </a:r>
            <a:r>
              <a:rPr lang="en-GB" sz="2400" b="1" dirty="0">
                <a:latin typeface="+mn-lt"/>
              </a:rPr>
              <a:t/>
            </a:r>
          </a:p>
        </p:txBody>
      </p:sp>
      <p:grpSp>
        <p:nvGrpSpPr>
          <p:cNvPr id="50" name="Group 106">
            <a:extLst>
              <a:ext uri="{FF2B5EF4-FFF2-40B4-BE49-F238E27FC236}">
                <a16:creationId xmlns:a16="http://schemas.microsoft.com/office/drawing/2014/main" id="{63608D46-0F8A-4C48-A638-0695C92EA3CD}"/>
              </a:ext>
            </a:extLst>
          </p:cNvPr>
          <p:cNvGrpSpPr/>
          <p:nvPr/>
        </p:nvGrpSpPr>
        <p:grpSpPr>
          <a:xfrm>
            <a:off x="565236" y="1350504"/>
            <a:ext cx="6864734" cy="850421"/>
            <a:chOff x="527264" y="2942040"/>
            <a:chExt cx="6769609" cy="850421"/>
          </a:xfrm>
        </p:grpSpPr>
        <p:grpSp>
          <p:nvGrpSpPr>
            <p:cNvPr id="51" name="Group 95">
              <a:extLst>
                <a:ext uri="{FF2B5EF4-FFF2-40B4-BE49-F238E27FC236}">
                  <a16:creationId xmlns:a16="http://schemas.microsoft.com/office/drawing/2014/main" id="{8105D018-1DD2-4018-9C3F-84F3526B3EC2}"/>
                </a:ext>
              </a:extLst>
            </p:cNvPr>
            <p:cNvGrpSpPr/>
            <p:nvPr/>
          </p:nvGrpSpPr>
          <p:grpSpPr>
            <a:xfrm>
              <a:off x="527264" y="2942040"/>
              <a:ext cx="1190840" cy="850419"/>
              <a:chOff x="527264" y="2456265"/>
              <a:chExt cx="1190840" cy="850419"/>
            </a:xfrm>
          </p:grpSpPr>
          <p:grpSp>
            <p:nvGrpSpPr>
              <p:cNvPr id="87" name="Group 6">
                <a:extLst>
                  <a:ext uri="{FF2B5EF4-FFF2-40B4-BE49-F238E27FC236}">
                    <a16:creationId xmlns:a16="http://schemas.microsoft.com/office/drawing/2014/main" id="{68D1C29E-D805-4475-892E-FE9EF8F03962}"/>
                  </a:ext>
                </a:extLst>
              </p:cNvPr>
              <p:cNvGrpSpPr/>
              <p:nvPr/>
            </p:nvGrpSpPr>
            <p:grpSpPr>
              <a:xfrm>
                <a:off x="527264" y="2796624"/>
                <a:ext cx="1190840" cy="510060"/>
                <a:chOff x="1600349" y="420728"/>
                <a:chExt cx="1124190" cy="387660"/>
              </a:xfrm>
            </p:grpSpPr>
            <p:sp>
              <p:nvSpPr>
                <p:cNvPr id="89" name="Arrow: Chevron 34">
                  <a:extLst>
                    <a:ext uri="{FF2B5EF4-FFF2-40B4-BE49-F238E27FC236}">
                      <a16:creationId xmlns:a16="http://schemas.microsoft.com/office/drawing/2014/main" id="{0EDF8768-FF69-4E42-9368-674DDE675C9D}"/>
                    </a:ext>
                  </a:extLst>
                </p:cNvPr>
                <p:cNvSpPr/>
                <p:nvPr/>
              </p:nvSpPr>
              <p:spPr>
                <a:xfrm>
                  <a:off x="1600349" y="420728"/>
                  <a:ext cx="1124190" cy="314110"/>
                </a:xfrm>
                <a:prstGeom prst="chevron">
                  <a:avLst/>
                </a:prstGeom>
                <a:solidFill>
                  <a:srgbClr val="FF7900"/>
                </a:solidFill>
                <a:ln w="25400" cap="flat" cmpd="sng" algn="ctr">
                  <a:solidFill>
                    <a:srgbClr val="FF79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5F5F5F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Rectangle: Rounded Corners 35">
                  <a:extLst>
                    <a:ext uri="{FF2B5EF4-FFF2-40B4-BE49-F238E27FC236}">
                      <a16:creationId xmlns:a16="http://schemas.microsoft.com/office/drawing/2014/main" id="{EEF88D1C-1D27-41D5-8EDD-1F1FEB06CA54}"/>
                    </a:ext>
                  </a:extLst>
                </p:cNvPr>
                <p:cNvSpPr/>
                <p:nvPr/>
              </p:nvSpPr>
              <p:spPr>
                <a:xfrm>
                  <a:off x="1827576" y="509276"/>
                  <a:ext cx="715143" cy="299112"/>
                </a:xfrm>
                <a:prstGeom prst="roundRect">
                  <a:avLst/>
                </a:prstGeom>
                <a:solidFill>
                  <a:srgbClr val="FFFFFF"/>
                </a:solidFill>
                <a:ln w="25400" cap="flat" cmpd="sng" algn="ctr">
                  <a:solidFill>
                    <a:srgbClr val="FF7900"/>
                  </a:solidFill>
                  <a:prstDash val="solid"/>
                </a:ln>
                <a:effectLst/>
              </p:spPr>
              <p:txBody>
                <a:bodyPr lIns="36000" rIns="72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5F5F5F"/>
                      </a:solidFill>
                      <a:effectLst/>
                      <a:uLnTx/>
                      <a:uFillTx/>
                      <a:latin typeface="Verdana"/>
                      <a:ea typeface="+mn-ea"/>
                      <a:cs typeface="+mn-cs"/>
                    </a:rPr>
                    <a:t>Transport cost integration</a:t>
                  </a:r>
                  <a:r>
                    <a:rPr kumimoji="0" lang="en-GB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5F5F5F"/>
                      </a:solidFill>
                      <a:effectLst/>
                      <a:uLnTx/>
                      <a:uFillTx/>
                      <a:latin typeface="Verdana"/>
                      <a:ea typeface="+mn-ea"/>
                      <a:cs typeface="+mn-cs"/>
                    </a:rPr>
                    <a:t/>
                  </a:r>
                  <a:r>
                    <a:rPr kumimoji="0" lang="en-GB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5F5F5F"/>
                      </a:solidFill>
                      <a:effectLst/>
                      <a:uLnTx/>
                      <a:uFillTx/>
                      <a:latin typeface="Verdana"/>
                      <a:ea typeface="+mn-ea"/>
                      <a:cs typeface="+mn-cs"/>
                    </a:rPr>
                    <a:t/>
                  </a:r>
                  <a:r>
                    <a:rPr kumimoji="0" lang="en-GB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5F5F5F"/>
                      </a:solidFill>
                      <a:effectLst/>
                      <a:uLnTx/>
                      <a:uFillTx/>
                      <a:latin typeface="Verdana"/>
                      <a:ea typeface="+mn-ea"/>
                      <a:cs typeface="+mn-cs"/>
                    </a:rPr>
                    <a:t/>
                  </a:r>
                  <a:r>
                    <a:rPr kumimoji="0" lang="en-GB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5F5F5F"/>
                      </a:solidFill>
                      <a:effectLst/>
                      <a:uLnTx/>
                      <a:uFillTx/>
                      <a:latin typeface="Verdana"/>
                      <a:ea typeface="+mn-ea"/>
                      <a:cs typeface="+mn-cs"/>
                    </a:rPr>
                    <a:t/>
                  </a:r>
                  <a:r>
                    <a:rPr kumimoji="0" lang="en-GB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5F5F5F"/>
                      </a:solidFill>
                      <a:effectLst/>
                      <a:uLnTx/>
                      <a:uFillTx/>
                      <a:latin typeface="Verdana"/>
                      <a:ea typeface="+mn-ea"/>
                      <a:cs typeface="+mn-cs"/>
                    </a:rPr>
                    <a:t/>
                  </a:r>
                </a:p>
              </p:txBody>
            </p:sp>
          </p:grpSp>
          <p:sp>
            <p:nvSpPr>
              <p:cNvPr id="88" name="Rectangle: Rounded Corners 14">
                <a:extLst>
                  <a:ext uri="{FF2B5EF4-FFF2-40B4-BE49-F238E27FC236}">
                    <a16:creationId xmlns:a16="http://schemas.microsoft.com/office/drawing/2014/main" id="{E7AC2B88-1C33-42E3-BC05-B91C8EE44FB8}"/>
                  </a:ext>
                </a:extLst>
              </p:cNvPr>
              <p:cNvSpPr/>
              <p:nvPr/>
            </p:nvSpPr>
            <p:spPr>
              <a:xfrm>
                <a:off x="527264" y="2456265"/>
                <a:ext cx="1190840" cy="248042"/>
              </a:xfrm>
              <a:prstGeom prst="round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000" kern="0" dirty="0">
                    <a:solidFill>
                      <a:srgbClr val="5F5F5F"/>
                    </a:solidFill>
                    <a:latin typeface="Verdana"/>
                  </a:rPr>
                  <a:t>SAP</a:t>
                </a:r>
                <a:endParaRPr kumimoji="0" lang="en-GB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p:grpSp>
        <p:grpSp>
          <p:nvGrpSpPr>
            <p:cNvPr id="52" name="Group 97">
              <a:extLst>
                <a:ext uri="{FF2B5EF4-FFF2-40B4-BE49-F238E27FC236}">
                  <a16:creationId xmlns:a16="http://schemas.microsoft.com/office/drawing/2014/main" id="{6D2B53E5-145E-4C38-B699-A8083F99D5E1}"/>
                </a:ext>
              </a:extLst>
            </p:cNvPr>
            <p:cNvGrpSpPr/>
            <p:nvPr/>
          </p:nvGrpSpPr>
          <p:grpSpPr>
            <a:xfrm>
              <a:off x="3359891" y="2942040"/>
              <a:ext cx="1190840" cy="850419"/>
              <a:chOff x="3359891" y="2456265"/>
              <a:chExt cx="1190840" cy="850419"/>
            </a:xfrm>
          </p:grpSpPr>
          <p:grpSp>
            <p:nvGrpSpPr>
              <p:cNvPr id="83" name="Group 7">
                <a:extLst>
                  <a:ext uri="{FF2B5EF4-FFF2-40B4-BE49-F238E27FC236}">
                    <a16:creationId xmlns:a16="http://schemas.microsoft.com/office/drawing/2014/main" id="{9A55469F-5117-48A3-ACFD-B6380C2534FC}"/>
                  </a:ext>
                </a:extLst>
              </p:cNvPr>
              <p:cNvGrpSpPr/>
              <p:nvPr/>
            </p:nvGrpSpPr>
            <p:grpSpPr>
              <a:xfrm>
                <a:off x="3359891" y="2796624"/>
                <a:ext cx="1190840" cy="510060"/>
                <a:chOff x="4243463" y="420728"/>
                <a:chExt cx="1124190" cy="387660"/>
              </a:xfrm>
            </p:grpSpPr>
            <p:sp>
              <p:nvSpPr>
                <p:cNvPr id="85" name="Arrow: Chevron 32">
                  <a:extLst>
                    <a:ext uri="{FF2B5EF4-FFF2-40B4-BE49-F238E27FC236}">
                      <a16:creationId xmlns:a16="http://schemas.microsoft.com/office/drawing/2014/main" id="{12F62D66-AC6E-477F-A27A-ACE61DD9E9FF}"/>
                    </a:ext>
                  </a:extLst>
                </p:cNvPr>
                <p:cNvSpPr/>
                <p:nvPr/>
              </p:nvSpPr>
              <p:spPr>
                <a:xfrm>
                  <a:off x="4243463" y="420728"/>
                  <a:ext cx="1124190" cy="314110"/>
                </a:xfrm>
                <a:prstGeom prst="chevron">
                  <a:avLst/>
                </a:prstGeom>
                <a:solidFill>
                  <a:srgbClr val="FF7900"/>
                </a:solidFill>
                <a:ln w="25400" cap="flat" cmpd="sng" algn="ctr">
                  <a:solidFill>
                    <a:srgbClr val="FF79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800" b="0" i="0" u="none" strike="noStrike" kern="0" cap="none" spc="0" normalizeH="0" baseline="0" noProof="0">
                    <a:ln>
                      <a:noFill/>
                    </a:ln>
                    <a:solidFill>
                      <a:schemeClr val="bg2">
                        <a:lumMod val="90000"/>
                      </a:schemeClr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Rectangle: Rounded Corners 33">
                  <a:extLst>
                    <a:ext uri="{FF2B5EF4-FFF2-40B4-BE49-F238E27FC236}">
                      <a16:creationId xmlns:a16="http://schemas.microsoft.com/office/drawing/2014/main" id="{3C550783-A0E5-430F-BB09-502EFACDD808}"/>
                    </a:ext>
                  </a:extLst>
                </p:cNvPr>
                <p:cNvSpPr/>
                <p:nvPr/>
              </p:nvSpPr>
              <p:spPr>
                <a:xfrm>
                  <a:off x="4470690" y="509276"/>
                  <a:ext cx="715143" cy="299112"/>
                </a:xfrm>
                <a:prstGeom prst="roundRect">
                  <a:avLst/>
                </a:prstGeom>
                <a:solidFill>
                  <a:srgbClr val="FFFFFF"/>
                </a:solidFill>
                <a:ln w="25400" cap="flat" cmpd="sng" algn="ctr">
                  <a:solidFill>
                    <a:srgbClr val="FF79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GB" sz="800" kern="0" dirty="0" err="1">
                      <a:solidFill>
                        <a:srgbClr val="5F5F5F"/>
                      </a:solidFill>
                      <a:latin typeface="Verdana"/>
                    </a:rPr>
                    <a:t>FileNET</a:t>
                  </a:r>
                  <a:endPara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5F5F5F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4" name="Rectangle: Rounded Corners 15">
                <a:extLst>
                  <a:ext uri="{FF2B5EF4-FFF2-40B4-BE49-F238E27FC236}">
                    <a16:creationId xmlns:a16="http://schemas.microsoft.com/office/drawing/2014/main" id="{BA2A211D-A4A5-4B16-9156-88E082DAE316}"/>
                  </a:ext>
                </a:extLst>
              </p:cNvPr>
              <p:cNvSpPr/>
              <p:nvPr/>
            </p:nvSpPr>
            <p:spPr>
              <a:xfrm>
                <a:off x="3359891" y="2456265"/>
                <a:ext cx="1190840" cy="248042"/>
              </a:xfrm>
              <a:prstGeom prst="round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5F5F5F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FileNET</a:t>
                </a:r>
                <a:endParaRPr kumimoji="0" lang="en-GB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Group 96">
              <a:extLst>
                <a:ext uri="{FF2B5EF4-FFF2-40B4-BE49-F238E27FC236}">
                  <a16:creationId xmlns:a16="http://schemas.microsoft.com/office/drawing/2014/main" id="{EBC4287F-A01C-4F38-B0C0-28285A9E5EB8}"/>
                </a:ext>
              </a:extLst>
            </p:cNvPr>
            <p:cNvGrpSpPr/>
            <p:nvPr/>
          </p:nvGrpSpPr>
          <p:grpSpPr>
            <a:xfrm>
              <a:off x="1943706" y="2942040"/>
              <a:ext cx="1190840" cy="850419"/>
              <a:chOff x="1943706" y="2456265"/>
              <a:chExt cx="1190840" cy="850419"/>
            </a:xfrm>
          </p:grpSpPr>
          <p:grpSp>
            <p:nvGrpSpPr>
              <p:cNvPr id="79" name="Group 8">
                <a:extLst>
                  <a:ext uri="{FF2B5EF4-FFF2-40B4-BE49-F238E27FC236}">
                    <a16:creationId xmlns:a16="http://schemas.microsoft.com/office/drawing/2014/main" id="{066CFA1D-2874-4997-B0CA-442B009B45FE}"/>
                  </a:ext>
                </a:extLst>
              </p:cNvPr>
              <p:cNvGrpSpPr/>
              <p:nvPr/>
            </p:nvGrpSpPr>
            <p:grpSpPr>
              <a:xfrm>
                <a:off x="1943706" y="2796624"/>
                <a:ext cx="1190840" cy="510060"/>
                <a:chOff x="2921906" y="420728"/>
                <a:chExt cx="1124190" cy="387660"/>
              </a:xfrm>
            </p:grpSpPr>
            <p:sp>
              <p:nvSpPr>
                <p:cNvPr id="81" name="Arrow: Chevron 30">
                  <a:extLst>
                    <a:ext uri="{FF2B5EF4-FFF2-40B4-BE49-F238E27FC236}">
                      <a16:creationId xmlns:a16="http://schemas.microsoft.com/office/drawing/2014/main" id="{98F2B4DF-DAA3-4FFC-9ACB-8756C0123F26}"/>
                    </a:ext>
                  </a:extLst>
                </p:cNvPr>
                <p:cNvSpPr/>
                <p:nvPr/>
              </p:nvSpPr>
              <p:spPr>
                <a:xfrm>
                  <a:off x="2921906" y="420728"/>
                  <a:ext cx="1124190" cy="314110"/>
                </a:xfrm>
                <a:prstGeom prst="chevron">
                  <a:avLst/>
                </a:prstGeom>
                <a:solidFill>
                  <a:srgbClr val="FF7900"/>
                </a:solidFill>
                <a:ln w="25400" cap="flat" cmpd="sng" algn="ctr">
                  <a:solidFill>
                    <a:srgbClr val="FF79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5F5F5F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endParaRPr>
                </a:p>
              </p:txBody>
            </p:sp>
            <p:sp>
              <p:nvSpPr>
                <p:cNvPr id="82" name="Rectangle: Rounded Corners 31">
                  <a:extLst>
                    <a:ext uri="{FF2B5EF4-FFF2-40B4-BE49-F238E27FC236}">
                      <a16:creationId xmlns:a16="http://schemas.microsoft.com/office/drawing/2014/main" id="{68E86479-659C-46D2-B08B-384E1188C18D}"/>
                    </a:ext>
                  </a:extLst>
                </p:cNvPr>
                <p:cNvSpPr/>
                <p:nvPr/>
              </p:nvSpPr>
              <p:spPr>
                <a:xfrm>
                  <a:off x="3149133" y="509276"/>
                  <a:ext cx="715143" cy="299112"/>
                </a:xfrm>
                <a:prstGeom prst="roundRect">
                  <a:avLst/>
                </a:prstGeom>
                <a:solidFill>
                  <a:srgbClr val="FFFFFF"/>
                </a:solidFill>
                <a:ln w="25400" cap="flat" cmpd="sng" algn="ctr">
                  <a:solidFill>
                    <a:srgbClr val="FF7900"/>
                  </a:solidFill>
                  <a:prstDash val="solid"/>
                </a:ln>
                <a:effectLst/>
              </p:spPr>
              <p:txBody>
                <a:bodyPr lIns="36000" rIns="36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GB" sz="800" kern="0" dirty="0">
                      <a:solidFill>
                        <a:srgbClr val="5F5F5F"/>
                      </a:solidFill>
                      <a:latin typeface="Verdana"/>
                    </a:rPr>
                    <a:t>Invoices</a:t>
                  </a:r>
                  <a:endPara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5F5F5F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0" name="Rectangle: Rounded Corners 16">
                <a:extLst>
                  <a:ext uri="{FF2B5EF4-FFF2-40B4-BE49-F238E27FC236}">
                    <a16:creationId xmlns:a16="http://schemas.microsoft.com/office/drawing/2014/main" id="{D3D4A205-C850-4F76-84E8-1D17C83E62AE}"/>
                  </a:ext>
                </a:extLst>
              </p:cNvPr>
              <p:cNvSpPr/>
              <p:nvPr/>
            </p:nvSpPr>
            <p:spPr>
              <a:xfrm>
                <a:off x="1943706" y="2456265"/>
                <a:ext cx="1190840" cy="248042"/>
              </a:xfrm>
              <a:prstGeom prst="round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000" kern="0" dirty="0">
                    <a:solidFill>
                      <a:srgbClr val="5F5F5F"/>
                    </a:solidFill>
                    <a:latin typeface="Verdana"/>
                  </a:rPr>
                  <a:t>APUPLOAD</a:t>
                </a:r>
                <a:endParaRPr kumimoji="0" lang="en-GB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p:grpSp>
        <p:grpSp>
          <p:nvGrpSpPr>
            <p:cNvPr id="54" name="Group 98">
              <a:extLst>
                <a:ext uri="{FF2B5EF4-FFF2-40B4-BE49-F238E27FC236}">
                  <a16:creationId xmlns:a16="http://schemas.microsoft.com/office/drawing/2014/main" id="{821A633A-BF37-4CAC-B8E1-9BABE66A9355}"/>
                </a:ext>
              </a:extLst>
            </p:cNvPr>
            <p:cNvGrpSpPr/>
            <p:nvPr/>
          </p:nvGrpSpPr>
          <p:grpSpPr>
            <a:xfrm>
              <a:off x="4732834" y="2942040"/>
              <a:ext cx="1190840" cy="850421"/>
              <a:chOff x="4732834" y="2456265"/>
              <a:chExt cx="1190840" cy="850421"/>
            </a:xfrm>
          </p:grpSpPr>
          <p:grpSp>
            <p:nvGrpSpPr>
              <p:cNvPr id="75" name="Group 9">
                <a:extLst>
                  <a:ext uri="{FF2B5EF4-FFF2-40B4-BE49-F238E27FC236}">
                    <a16:creationId xmlns:a16="http://schemas.microsoft.com/office/drawing/2014/main" id="{5890096F-C8B8-4DD0-BFFA-27811C49DFF6}"/>
                  </a:ext>
                </a:extLst>
              </p:cNvPr>
              <p:cNvGrpSpPr/>
              <p:nvPr/>
            </p:nvGrpSpPr>
            <p:grpSpPr>
              <a:xfrm>
                <a:off x="4732834" y="2796624"/>
                <a:ext cx="1190840" cy="510062"/>
                <a:chOff x="5565019" y="420727"/>
                <a:chExt cx="1124190" cy="387661"/>
              </a:xfrm>
            </p:grpSpPr>
            <p:sp>
              <p:nvSpPr>
                <p:cNvPr id="77" name="Arrow: Chevron 28">
                  <a:extLst>
                    <a:ext uri="{FF2B5EF4-FFF2-40B4-BE49-F238E27FC236}">
                      <a16:creationId xmlns:a16="http://schemas.microsoft.com/office/drawing/2014/main" id="{AF8A9928-3CBE-4D84-B3BD-E06AABA27C7A}"/>
                    </a:ext>
                  </a:extLst>
                </p:cNvPr>
                <p:cNvSpPr/>
                <p:nvPr/>
              </p:nvSpPr>
              <p:spPr>
                <a:xfrm>
                  <a:off x="5565019" y="420727"/>
                  <a:ext cx="1124190" cy="314110"/>
                </a:xfrm>
                <a:prstGeom prst="chevron">
                  <a:avLst/>
                </a:prstGeom>
                <a:solidFill>
                  <a:srgbClr val="FF7900"/>
                </a:solidFill>
                <a:ln w="25400" cap="flat" cmpd="sng" algn="ctr">
                  <a:solidFill>
                    <a:srgbClr val="FF79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5F5F5F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endParaRPr>
                </a:p>
              </p:txBody>
            </p:sp>
            <p:sp>
              <p:nvSpPr>
                <p:cNvPr id="78" name="Rectangle: Rounded Corners 29">
                  <a:extLst>
                    <a:ext uri="{FF2B5EF4-FFF2-40B4-BE49-F238E27FC236}">
                      <a16:creationId xmlns:a16="http://schemas.microsoft.com/office/drawing/2014/main" id="{75C7FBC6-667B-4C40-B0D6-1908C94937FA}"/>
                    </a:ext>
                  </a:extLst>
                </p:cNvPr>
                <p:cNvSpPr/>
                <p:nvPr/>
              </p:nvSpPr>
              <p:spPr>
                <a:xfrm>
                  <a:off x="5792247" y="509276"/>
                  <a:ext cx="715143" cy="299112"/>
                </a:xfrm>
                <a:prstGeom prst="roundRect">
                  <a:avLst/>
                </a:prstGeom>
                <a:solidFill>
                  <a:srgbClr val="FFFFFF"/>
                </a:solidFill>
                <a:ln w="25400" cap="flat" cmpd="sng" algn="ctr">
                  <a:solidFill>
                    <a:srgbClr val="FF79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5F5F5F"/>
                      </a:solidFill>
                      <a:effectLst/>
                      <a:uLnTx/>
                      <a:uFillTx/>
                      <a:latin typeface="Verdana"/>
                      <a:ea typeface="+mn-ea"/>
                      <a:cs typeface="+mn-cs"/>
                    </a:rPr>
                    <a:t>Dispute</a:t>
                  </a:r>
                  <a:endPara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5F5F5F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6" name="Rectangle: Rounded Corners 17">
                <a:extLst>
                  <a:ext uri="{FF2B5EF4-FFF2-40B4-BE49-F238E27FC236}">
                    <a16:creationId xmlns:a16="http://schemas.microsoft.com/office/drawing/2014/main" id="{44D23EBE-524D-459D-85DB-DD7DFE3D5212}"/>
                  </a:ext>
                </a:extLst>
              </p:cNvPr>
              <p:cNvSpPr/>
              <p:nvPr/>
            </p:nvSpPr>
            <p:spPr>
              <a:xfrm>
                <a:off x="4843352" y="2456265"/>
                <a:ext cx="970059" cy="283289"/>
              </a:xfrm>
              <a:prstGeom prst="round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5F5F5F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PINS</a:t>
                </a:r>
              </a:p>
            </p:txBody>
          </p:sp>
        </p:grpSp>
        <p:grpSp>
          <p:nvGrpSpPr>
            <p:cNvPr id="55" name="Group 99">
              <a:extLst>
                <a:ext uri="{FF2B5EF4-FFF2-40B4-BE49-F238E27FC236}">
                  <a16:creationId xmlns:a16="http://schemas.microsoft.com/office/drawing/2014/main" id="{4C47D65D-57B3-46E8-87EB-0CADA28E093A}"/>
                </a:ext>
              </a:extLst>
            </p:cNvPr>
            <p:cNvGrpSpPr/>
            <p:nvPr/>
          </p:nvGrpSpPr>
          <p:grpSpPr>
            <a:xfrm>
              <a:off x="6106033" y="2942040"/>
              <a:ext cx="1190840" cy="850419"/>
              <a:chOff x="6106033" y="2456265"/>
              <a:chExt cx="1190840" cy="850419"/>
            </a:xfrm>
          </p:grpSpPr>
          <p:grpSp>
            <p:nvGrpSpPr>
              <p:cNvPr id="71" name="Group 10">
                <a:extLst>
                  <a:ext uri="{FF2B5EF4-FFF2-40B4-BE49-F238E27FC236}">
                    <a16:creationId xmlns:a16="http://schemas.microsoft.com/office/drawing/2014/main" id="{C1990FB5-D974-4962-8196-F896823D1AD5}"/>
                  </a:ext>
                </a:extLst>
              </p:cNvPr>
              <p:cNvGrpSpPr/>
              <p:nvPr/>
            </p:nvGrpSpPr>
            <p:grpSpPr>
              <a:xfrm>
                <a:off x="6106033" y="2796624"/>
                <a:ext cx="1190840" cy="510060"/>
                <a:chOff x="6886577" y="420728"/>
                <a:chExt cx="1124190" cy="387660"/>
              </a:xfrm>
            </p:grpSpPr>
            <p:sp>
              <p:nvSpPr>
                <p:cNvPr id="73" name="Arrow: Chevron 26">
                  <a:extLst>
                    <a:ext uri="{FF2B5EF4-FFF2-40B4-BE49-F238E27FC236}">
                      <a16:creationId xmlns:a16="http://schemas.microsoft.com/office/drawing/2014/main" id="{32E50A93-00DF-4935-A38D-D5A8BC226459}"/>
                    </a:ext>
                  </a:extLst>
                </p:cNvPr>
                <p:cNvSpPr/>
                <p:nvPr/>
              </p:nvSpPr>
              <p:spPr>
                <a:xfrm>
                  <a:off x="6886577" y="420728"/>
                  <a:ext cx="1124190" cy="314110"/>
                </a:xfrm>
                <a:prstGeom prst="chevron">
                  <a:avLst/>
                </a:prstGeom>
                <a:solidFill>
                  <a:srgbClr val="FF7900"/>
                </a:solidFill>
                <a:ln w="25400" cap="flat" cmpd="sng" algn="ctr">
                  <a:solidFill>
                    <a:srgbClr val="FF79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5F5F5F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endParaRPr>
                </a:p>
              </p:txBody>
            </p:sp>
            <p:sp>
              <p:nvSpPr>
                <p:cNvPr id="74" name="Rectangle: Rounded Corners 27">
                  <a:extLst>
                    <a:ext uri="{FF2B5EF4-FFF2-40B4-BE49-F238E27FC236}">
                      <a16:creationId xmlns:a16="http://schemas.microsoft.com/office/drawing/2014/main" id="{AD9E5AD2-D697-4FAE-834A-82142F5714B7}"/>
                    </a:ext>
                  </a:extLst>
                </p:cNvPr>
                <p:cNvSpPr/>
                <p:nvPr/>
              </p:nvSpPr>
              <p:spPr>
                <a:xfrm>
                  <a:off x="7113804" y="509276"/>
                  <a:ext cx="715143" cy="299112"/>
                </a:xfrm>
                <a:prstGeom prst="roundRect">
                  <a:avLst/>
                </a:prstGeom>
                <a:solidFill>
                  <a:srgbClr val="FFFFFF"/>
                </a:solidFill>
                <a:ln w="25400" cap="flat" cmpd="sng" algn="ctr">
                  <a:solidFill>
                    <a:srgbClr val="FF79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5F5F5F"/>
                      </a:solidFill>
                      <a:effectLst/>
                      <a:uLnTx/>
                      <a:uFillTx/>
                      <a:latin typeface="Verdana"/>
                      <a:ea typeface="+mn-ea"/>
                      <a:cs typeface="+mn-cs"/>
                    </a:rPr>
                    <a:t>Dispute</a:t>
                  </a:r>
                  <a:endPara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5F5F5F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2" name="Rectangle: Rounded Corners 18">
                <a:extLst>
                  <a:ext uri="{FF2B5EF4-FFF2-40B4-BE49-F238E27FC236}">
                    <a16:creationId xmlns:a16="http://schemas.microsoft.com/office/drawing/2014/main" id="{D5A4E4B1-93D6-4581-A3A2-8B94FBBA225B}"/>
                  </a:ext>
                </a:extLst>
              </p:cNvPr>
              <p:cNvSpPr/>
              <p:nvPr/>
            </p:nvSpPr>
            <p:spPr>
              <a:xfrm>
                <a:off x="6106033" y="2456265"/>
                <a:ext cx="1190840" cy="248042"/>
              </a:xfrm>
              <a:prstGeom prst="round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5F5F5F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Outlook</a:t>
                </a:r>
              </a:p>
            </p:txBody>
          </p:sp>
        </p:grpSp>
      </p:grpSp>
      <p:sp>
        <p:nvSpPr>
          <p:cNvPr id="107" name="TextBox 3">
            <a:extLst>
              <a:ext uri="{FF2B5EF4-FFF2-40B4-BE49-F238E27FC236}">
                <a16:creationId xmlns:a16="http://schemas.microsoft.com/office/drawing/2014/main" id="{3D627DD5-1C1D-4023-9ECC-5C6E9A9DE55D}"/>
              </a:ext>
            </a:extLst>
          </p:cNvPr>
          <p:cNvSpPr txBox="1"/>
          <p:nvPr/>
        </p:nvSpPr>
        <p:spPr>
          <a:xfrm>
            <a:off x="442626" y="2379013"/>
            <a:ext cx="1331886" cy="1704752"/>
          </a:xfrm>
          <a:prstGeom prst="rect">
            <a:avLst/>
          </a:prstGeom>
          <a:noFill/>
          <a:ln>
            <a:solidFill>
              <a:srgbClr val="FF7900"/>
            </a:solidFill>
          </a:ln>
        </p:spPr>
        <p:txBody>
          <a:bodyPr wrap="square" lIns="72000" rIns="72000" rtlCol="0">
            <a:no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>Transport costs with integration issues (prices not calculated, routes not recorded…) are reviewed daily.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</a:p>
        </p:txBody>
      </p:sp>
      <p:sp>
        <p:nvSpPr>
          <p:cNvPr id="108" name="TextBox 36">
            <a:extLst>
              <a:ext uri="{FF2B5EF4-FFF2-40B4-BE49-F238E27FC236}">
                <a16:creationId xmlns:a16="http://schemas.microsoft.com/office/drawing/2014/main" id="{4A927910-E4A3-4379-8EEA-12A58C0DF8B6}"/>
              </a:ext>
            </a:extLst>
          </p:cNvPr>
          <p:cNvSpPr txBox="1"/>
          <p:nvPr/>
        </p:nvSpPr>
        <p:spPr>
          <a:xfrm>
            <a:off x="3336698" y="2379013"/>
            <a:ext cx="1331373" cy="1704752"/>
          </a:xfrm>
          <a:prstGeom prst="rect">
            <a:avLst/>
          </a:prstGeom>
          <a:noFill/>
          <a:ln>
            <a:solidFill>
              <a:srgbClr val="FF7900"/>
            </a:solidFill>
          </a:ln>
        </p:spPr>
        <p:txBody>
          <a:bodyPr wrap="square" lIns="72000" rIns="72000" rtlCol="0">
            <a:no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Verdana"/>
              </a:rPr>
              <a:t>Invoice repository.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Verdana"/>
              </a:rPr>
              <a:t/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</a:rPr>
              <a:t>Interfaced with SAP; the information is completed once the MIRO is filled in.</a:t>
            </a:r>
            <a:r>
              <a:rPr 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</a:rPr>
              <a:t/>
            </a:r>
            <a:r>
              <a:rPr 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</a:rPr>
              <a:t/>
            </a:r>
            <a:r>
              <a:rPr 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</a:rPr>
              <a:t/>
            </a:r>
            <a:r>
              <a:rPr 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</a:rPr>
              <a:t/>
            </a:r>
            <a:r>
              <a:rPr 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</a:rPr>
              <a:t/>
            </a:r>
            <a:r>
              <a:rPr 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</a:rPr>
              <a:t/>
            </a:r>
            <a:r>
              <a:rPr 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</a:rPr>
              <a:t/>
            </a:r>
            <a:r>
              <a:rPr 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</a:rPr>
              <a:t/>
            </a:r>
            <a:r>
              <a:rPr 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</a:rPr>
              <a:t/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</a:rPr>
              <a:t>In case of discrepancies with the invoice, the status is set to PROBLEM or SUSPENDED.</a:t>
            </a:r>
            <a:r>
              <a:rPr 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</a:rPr>
              <a:t/>
            </a:r>
            <a:r>
              <a:rPr 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</a:rPr>
              <a:t/>
            </a:r>
            <a:r>
              <a:rPr 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</a:rPr>
              <a:t/>
            </a:r>
            <a:r>
              <a:rPr 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</a:rPr>
              <a:t/>
            </a:r>
            <a:r>
              <a:rPr 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</a:rPr>
              <a:t/>
            </a:r>
            <a:r>
              <a:rPr lang="en-US" sz="8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</a:rPr>
              <a:t/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Verdana"/>
            </a:endParaRPr>
          </a:p>
        </p:txBody>
      </p:sp>
      <p:sp>
        <p:nvSpPr>
          <p:cNvPr id="109" name="TextBox 37">
            <a:extLst>
              <a:ext uri="{FF2B5EF4-FFF2-40B4-BE49-F238E27FC236}">
                <a16:creationId xmlns:a16="http://schemas.microsoft.com/office/drawing/2014/main" id="{37F7E420-E9FA-4A38-9889-7BE1709FD3FF}"/>
              </a:ext>
            </a:extLst>
          </p:cNvPr>
          <p:cNvSpPr txBox="1"/>
          <p:nvPr/>
        </p:nvSpPr>
        <p:spPr>
          <a:xfrm>
            <a:off x="1899646" y="2379012"/>
            <a:ext cx="1331886" cy="1704753"/>
          </a:xfrm>
          <a:prstGeom prst="rect">
            <a:avLst/>
          </a:prstGeom>
          <a:noFill/>
          <a:ln>
            <a:solidFill>
              <a:srgbClr val="FF7900"/>
            </a:solidFill>
          </a:ln>
        </p:spPr>
        <p:txBody>
          <a:bodyPr wrap="square" lIns="72000" rIns="72000" rtlCol="0">
            <a:no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 kern="0" dirty="0">
                <a:solidFill>
                  <a:srgbClr val="5F5F5F"/>
                </a:solidFill>
                <a:latin typeface="Verdana"/>
              </a:rPr>
              <a:t>Invoices are downloaded from the mailbox.</a:t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>They are uploaded to the APUPLOAD platform.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</a:p>
        </p:txBody>
      </p:sp>
      <p:sp>
        <p:nvSpPr>
          <p:cNvPr id="110" name="TextBox 38">
            <a:extLst>
              <a:ext uri="{FF2B5EF4-FFF2-40B4-BE49-F238E27FC236}">
                <a16:creationId xmlns:a16="http://schemas.microsoft.com/office/drawing/2014/main" id="{24DE58BE-00D8-449D-8789-1E289C571BA6}"/>
              </a:ext>
            </a:extLst>
          </p:cNvPr>
          <p:cNvSpPr txBox="1"/>
          <p:nvPr/>
        </p:nvSpPr>
        <p:spPr>
          <a:xfrm>
            <a:off x="4796564" y="2379015"/>
            <a:ext cx="1245400" cy="1704750"/>
          </a:xfrm>
          <a:prstGeom prst="rect">
            <a:avLst/>
          </a:prstGeom>
          <a:noFill/>
          <a:ln>
            <a:solidFill>
              <a:srgbClr val="FF7900"/>
            </a:solidFill>
          </a:ln>
        </p:spPr>
        <p:txBody>
          <a:bodyPr wrap="square" lIns="72000" rIns="72000" rtlCol="0">
            <a:no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 kern="0" dirty="0">
                <a:solidFill>
                  <a:srgbClr val="5F5F5F"/>
                </a:solidFill>
                <a:latin typeface="Verdana"/>
              </a:rPr>
              <a:t>Used in case of discrepancies over downtime costs.</a:t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Verdana"/>
            </a:endParaRPr>
          </a:p>
        </p:txBody>
      </p:sp>
      <p:sp>
        <p:nvSpPr>
          <p:cNvPr id="111" name="TextBox 39">
            <a:extLst>
              <a:ext uri="{FF2B5EF4-FFF2-40B4-BE49-F238E27FC236}">
                <a16:creationId xmlns:a16="http://schemas.microsoft.com/office/drawing/2014/main" id="{D0E15305-F65C-4120-A5AE-5E2F0E9FB4A9}"/>
              </a:ext>
            </a:extLst>
          </p:cNvPr>
          <p:cNvSpPr txBox="1"/>
          <p:nvPr/>
        </p:nvSpPr>
        <p:spPr>
          <a:xfrm>
            <a:off x="6150427" y="2379012"/>
            <a:ext cx="1331886" cy="1704750"/>
          </a:xfrm>
          <a:prstGeom prst="rect">
            <a:avLst/>
          </a:prstGeom>
          <a:noFill/>
          <a:ln>
            <a:solidFill>
              <a:srgbClr val="FF7900"/>
            </a:solidFill>
          </a:ln>
        </p:spPr>
        <p:txBody>
          <a:bodyPr wrap="square" lIns="72000" rIns="72000" rtlCol="0">
            <a:no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 kern="0" dirty="0">
                <a:solidFill>
                  <a:srgbClr val="5F5F5F"/>
                </a:solidFill>
                <a:latin typeface="Verdana"/>
              </a:rPr>
              <a:t>An email is sent to the supplier to report price differences (both rate and fuel).</a:t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>
                <a:solidFill>
                  <a:srgbClr val="5F5F5F"/>
                </a:solidFill>
                <a:latin typeface="Verdana"/>
              </a:rPr>
              <a:t/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Verdana"/>
            </a:endParaRPr>
          </a:p>
        </p:txBody>
      </p:sp>
      <p:sp>
        <p:nvSpPr>
          <p:cNvPr id="2" name="TextBox 39">
            <a:extLst>
              <a:ext uri="{FF2B5EF4-FFF2-40B4-BE49-F238E27FC236}">
                <a16:creationId xmlns:a16="http://schemas.microsoft.com/office/drawing/2014/main" id="{CDCFCC3C-B74C-289D-454E-A18054BAF637}"/>
              </a:ext>
            </a:extLst>
          </p:cNvPr>
          <p:cNvSpPr txBox="1"/>
          <p:nvPr/>
        </p:nvSpPr>
        <p:spPr>
          <a:xfrm>
            <a:off x="7610806" y="2379012"/>
            <a:ext cx="1331886" cy="1704750"/>
          </a:xfrm>
          <a:prstGeom prst="rect">
            <a:avLst/>
          </a:prstGeom>
          <a:noFill/>
          <a:ln>
            <a:solidFill>
              <a:srgbClr val="FF7900"/>
            </a:solidFill>
          </a:ln>
        </p:spPr>
        <p:txBody>
          <a:bodyPr wrap="square" lIns="72000" rIns="72000" rtlCol="0">
            <a:no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>Once correct, the invoice is posted via MIRO.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Verdana"/>
            </a:endParaRPr>
          </a:p>
        </p:txBody>
      </p:sp>
      <p:sp>
        <p:nvSpPr>
          <p:cNvPr id="3" name="Arrow: Chevron 26">
            <a:extLst>
              <a:ext uri="{FF2B5EF4-FFF2-40B4-BE49-F238E27FC236}">
                <a16:creationId xmlns:a16="http://schemas.microsoft.com/office/drawing/2014/main" id="{6619BC2F-0D26-5A71-8E84-AE999D8A34DE}"/>
              </a:ext>
            </a:extLst>
          </p:cNvPr>
          <p:cNvSpPr/>
          <p:nvPr/>
        </p:nvSpPr>
        <p:spPr>
          <a:xfrm>
            <a:off x="7610806" y="1715134"/>
            <a:ext cx="1190840" cy="413287"/>
          </a:xfrm>
          <a:prstGeom prst="chevron">
            <a:avLst/>
          </a:prstGeom>
          <a:solidFill>
            <a:srgbClr val="FF7900"/>
          </a:solidFill>
          <a:ln w="25400" cap="flat" cmpd="sng" algn="ctr">
            <a:solidFill>
              <a:srgbClr val="FF79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4" name="Rectangle: Rounded Corners 27">
            <a:extLst>
              <a:ext uri="{FF2B5EF4-FFF2-40B4-BE49-F238E27FC236}">
                <a16:creationId xmlns:a16="http://schemas.microsoft.com/office/drawing/2014/main" id="{62027AD8-C2B5-507E-4559-4E8B56B4272B}"/>
              </a:ext>
            </a:extLst>
          </p:cNvPr>
          <p:cNvSpPr/>
          <p:nvPr/>
        </p:nvSpPr>
        <p:spPr>
          <a:xfrm>
            <a:off x="7858972" y="1807369"/>
            <a:ext cx="768187" cy="393554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FF79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kern="0" dirty="0">
                <a:solidFill>
                  <a:srgbClr val="5F5F5F"/>
                </a:solidFill>
                <a:latin typeface="Verdana"/>
              </a:rPr>
              <a:t>Post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" name="Rectangle: Rounded Corners 18">
            <a:extLst>
              <a:ext uri="{FF2B5EF4-FFF2-40B4-BE49-F238E27FC236}">
                <a16:creationId xmlns:a16="http://schemas.microsoft.com/office/drawing/2014/main" id="{F34FD5E3-9FF8-F032-2055-779837CDD4C4}"/>
              </a:ext>
            </a:extLst>
          </p:cNvPr>
          <p:cNvSpPr/>
          <p:nvPr/>
        </p:nvSpPr>
        <p:spPr>
          <a:xfrm>
            <a:off x="7482313" y="1350504"/>
            <a:ext cx="1190840" cy="248042"/>
          </a:xfrm>
          <a:prstGeom prst="round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SAP</a:t>
            </a:r>
          </a:p>
        </p:txBody>
      </p:sp>
      <p:sp>
        <p:nvSpPr>
          <p:cNvPr id="7" name="Rectangle: Rounded Corners 14">
            <a:extLst>
              <a:ext uri="{FF2B5EF4-FFF2-40B4-BE49-F238E27FC236}">
                <a16:creationId xmlns:a16="http://schemas.microsoft.com/office/drawing/2014/main" id="{6D9DAEF3-A7A6-C37D-863E-EB1ED3995777}"/>
              </a:ext>
            </a:extLst>
          </p:cNvPr>
          <p:cNvSpPr/>
          <p:nvPr/>
        </p:nvSpPr>
        <p:spPr>
          <a:xfrm>
            <a:off x="442626" y="4354452"/>
            <a:ext cx="1207573" cy="248042"/>
          </a:xfrm>
          <a:prstGeom prst="round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Out of scope</a:t>
            </a:r>
          </a:p>
        </p:txBody>
      </p:sp>
      <p:sp>
        <p:nvSpPr>
          <p:cNvPr id="8" name="Rectangle: Rounded Corners 14">
            <a:extLst>
              <a:ext uri="{FF2B5EF4-FFF2-40B4-BE49-F238E27FC236}">
                <a16:creationId xmlns:a16="http://schemas.microsoft.com/office/drawing/2014/main" id="{230904EC-0804-8CC3-7A58-C03A07D3017B}"/>
              </a:ext>
            </a:extLst>
          </p:cNvPr>
          <p:cNvSpPr/>
          <p:nvPr/>
        </p:nvSpPr>
        <p:spPr>
          <a:xfrm>
            <a:off x="3354278" y="4740451"/>
            <a:ext cx="1392237" cy="304216"/>
          </a:xfrm>
          <a:prstGeom prst="round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Limited to 200 documents.</a:t>
            </a:r>
            <a:r>
              <a:rPr kumimoji="0" lang="en-GB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/>
            </a:r>
            <a:r>
              <a:rPr kumimoji="0" lang="en-GB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/>
            </a:r>
            <a:r>
              <a:rPr kumimoji="0" lang="en-GB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/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kern="0" dirty="0">
                <a:solidFill>
                  <a:srgbClr val="FF0000"/>
                </a:solidFill>
                <a:latin typeface="Verdana"/>
              </a:rPr>
              <a:t>Loss of visibility of invoices in dispute.</a:t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kern="0" dirty="0">
                <a:solidFill>
                  <a:srgbClr val="FF0000"/>
                </a:solidFill>
                <a:latin typeface="Verdana"/>
              </a:rPr>
              <a:t>Risk of penalties for late payments.</a:t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9" name="Rectangle: Rounded Corners 14">
            <a:extLst>
              <a:ext uri="{FF2B5EF4-FFF2-40B4-BE49-F238E27FC236}">
                <a16:creationId xmlns:a16="http://schemas.microsoft.com/office/drawing/2014/main" id="{4E4F3AC6-E67B-CFF0-628F-44EA77D51EF7}"/>
              </a:ext>
            </a:extLst>
          </p:cNvPr>
          <p:cNvSpPr/>
          <p:nvPr/>
        </p:nvSpPr>
        <p:spPr>
          <a:xfrm>
            <a:off x="6160056" y="4478473"/>
            <a:ext cx="1207573" cy="248042"/>
          </a:xfrm>
          <a:prstGeom prst="round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Information traceability.</a:t>
            </a:r>
            <a:r>
              <a:rPr kumimoji="0" lang="en-GB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/>
            </a:r>
            <a:r>
              <a:rPr kumimoji="0" lang="en-GB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/>
            </a:r>
            <a:r>
              <a:rPr kumimoji="0" lang="en-GB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/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kern="0" noProof="0" dirty="0">
                <a:solidFill>
                  <a:srgbClr val="FF0000"/>
                </a:solidFill>
                <a:latin typeface="Verdana"/>
              </a:rPr>
              <a:t>Not validated by the plant.</a:t>
            </a:r>
            <a:r>
              <a:rPr lang="en-GB" sz="900" kern="0" noProof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noProof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noProof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noProof="0" dirty="0">
                <a:solidFill>
                  <a:srgbClr val="FF0000"/>
                </a:solidFill>
                <a:latin typeface="Verdana"/>
              </a:rPr>
              <a:t/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0" name="Rectangle: Rounded Corners 14">
            <a:extLst>
              <a:ext uri="{FF2B5EF4-FFF2-40B4-BE49-F238E27FC236}">
                <a16:creationId xmlns:a16="http://schemas.microsoft.com/office/drawing/2014/main" id="{A9A2D5AB-A43D-0E70-3C3B-B7BE95A28D54}"/>
              </a:ext>
            </a:extLst>
          </p:cNvPr>
          <p:cNvSpPr/>
          <p:nvPr/>
        </p:nvSpPr>
        <p:spPr>
          <a:xfrm>
            <a:off x="7639278" y="4354452"/>
            <a:ext cx="1207573" cy="248042"/>
          </a:xfrm>
          <a:prstGeom prst="round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kern="0" dirty="0">
                <a:solidFill>
                  <a:srgbClr val="FF0000"/>
                </a:solidFill>
                <a:latin typeface="Verdana"/>
              </a:rPr>
              <a:t>No evidence in SAP.</a:t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r>
              <a:rPr kumimoji="0" lang="en-GB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/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0854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40FA531-EE37-4A54-923F-D29E766F5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365" y="404845"/>
            <a:ext cx="7188995" cy="414170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+mn-lt"/>
              </a:rPr>
              <a:t>Matchpay – TO BE</a:t>
            </a:r>
            <a:r>
              <a:rPr lang="en-GB" sz="2400" b="1" dirty="0">
                <a:latin typeface="+mn-lt"/>
              </a:rPr>
              <a:t/>
            </a:r>
          </a:p>
        </p:txBody>
      </p:sp>
      <p:grpSp>
        <p:nvGrpSpPr>
          <p:cNvPr id="50" name="Group 106">
            <a:extLst>
              <a:ext uri="{FF2B5EF4-FFF2-40B4-BE49-F238E27FC236}">
                <a16:creationId xmlns:a16="http://schemas.microsoft.com/office/drawing/2014/main" id="{63608D46-0F8A-4C48-A638-0695C92EA3CD}"/>
              </a:ext>
            </a:extLst>
          </p:cNvPr>
          <p:cNvGrpSpPr/>
          <p:nvPr/>
        </p:nvGrpSpPr>
        <p:grpSpPr>
          <a:xfrm>
            <a:off x="1374742" y="1393247"/>
            <a:ext cx="5472239" cy="850421"/>
            <a:chOff x="527264" y="2942040"/>
            <a:chExt cx="5396410" cy="850421"/>
          </a:xfrm>
        </p:grpSpPr>
        <p:grpSp>
          <p:nvGrpSpPr>
            <p:cNvPr id="51" name="Group 95">
              <a:extLst>
                <a:ext uri="{FF2B5EF4-FFF2-40B4-BE49-F238E27FC236}">
                  <a16:creationId xmlns:a16="http://schemas.microsoft.com/office/drawing/2014/main" id="{8105D018-1DD2-4018-9C3F-84F3526B3EC2}"/>
                </a:ext>
              </a:extLst>
            </p:cNvPr>
            <p:cNvGrpSpPr/>
            <p:nvPr/>
          </p:nvGrpSpPr>
          <p:grpSpPr>
            <a:xfrm>
              <a:off x="527264" y="2942040"/>
              <a:ext cx="1190840" cy="850419"/>
              <a:chOff x="527264" y="2456265"/>
              <a:chExt cx="1190840" cy="850419"/>
            </a:xfrm>
          </p:grpSpPr>
          <p:grpSp>
            <p:nvGrpSpPr>
              <p:cNvPr id="87" name="Group 6">
                <a:extLst>
                  <a:ext uri="{FF2B5EF4-FFF2-40B4-BE49-F238E27FC236}">
                    <a16:creationId xmlns:a16="http://schemas.microsoft.com/office/drawing/2014/main" id="{68D1C29E-D805-4475-892E-FE9EF8F03962}"/>
                  </a:ext>
                </a:extLst>
              </p:cNvPr>
              <p:cNvGrpSpPr/>
              <p:nvPr/>
            </p:nvGrpSpPr>
            <p:grpSpPr>
              <a:xfrm>
                <a:off x="527264" y="2796624"/>
                <a:ext cx="1190840" cy="510060"/>
                <a:chOff x="1600349" y="420728"/>
                <a:chExt cx="1124190" cy="387660"/>
              </a:xfrm>
            </p:grpSpPr>
            <p:sp>
              <p:nvSpPr>
                <p:cNvPr id="89" name="Arrow: Chevron 34">
                  <a:extLst>
                    <a:ext uri="{FF2B5EF4-FFF2-40B4-BE49-F238E27FC236}">
                      <a16:creationId xmlns:a16="http://schemas.microsoft.com/office/drawing/2014/main" id="{0EDF8768-FF69-4E42-9368-674DDE675C9D}"/>
                    </a:ext>
                  </a:extLst>
                </p:cNvPr>
                <p:cNvSpPr/>
                <p:nvPr/>
              </p:nvSpPr>
              <p:spPr>
                <a:xfrm>
                  <a:off x="1600349" y="420728"/>
                  <a:ext cx="1124190" cy="314110"/>
                </a:xfrm>
                <a:prstGeom prst="chevron">
                  <a:avLst/>
                </a:prstGeom>
                <a:solidFill>
                  <a:srgbClr val="FF7900"/>
                </a:solidFill>
                <a:ln w="25400" cap="flat" cmpd="sng" algn="ctr">
                  <a:solidFill>
                    <a:srgbClr val="FF79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5F5F5F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Rectangle: Rounded Corners 35">
                  <a:extLst>
                    <a:ext uri="{FF2B5EF4-FFF2-40B4-BE49-F238E27FC236}">
                      <a16:creationId xmlns:a16="http://schemas.microsoft.com/office/drawing/2014/main" id="{EEF88D1C-1D27-41D5-8EDD-1F1FEB06CA54}"/>
                    </a:ext>
                  </a:extLst>
                </p:cNvPr>
                <p:cNvSpPr/>
                <p:nvPr/>
              </p:nvSpPr>
              <p:spPr>
                <a:xfrm>
                  <a:off x="1827576" y="509276"/>
                  <a:ext cx="715143" cy="299112"/>
                </a:xfrm>
                <a:prstGeom prst="roundRect">
                  <a:avLst/>
                </a:prstGeom>
                <a:solidFill>
                  <a:srgbClr val="FFFFFF"/>
                </a:solidFill>
                <a:ln w="25400" cap="flat" cmpd="sng" algn="ctr">
                  <a:solidFill>
                    <a:srgbClr val="FF7900"/>
                  </a:solidFill>
                  <a:prstDash val="solid"/>
                </a:ln>
                <a:effectLst/>
              </p:spPr>
              <p:txBody>
                <a:bodyPr lIns="36000" rIns="72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5F5F5F"/>
                      </a:solidFill>
                      <a:effectLst/>
                      <a:uLnTx/>
                      <a:uFillTx/>
                      <a:latin typeface="Verdana"/>
                      <a:ea typeface="+mn-ea"/>
                      <a:cs typeface="+mn-cs"/>
                    </a:rPr>
                    <a:t>Transport cost integration</a:t>
                  </a:r>
                  <a:r>
                    <a:rPr kumimoji="0" lang="en-GB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5F5F5F"/>
                      </a:solidFill>
                      <a:effectLst/>
                      <a:uLnTx/>
                      <a:uFillTx/>
                      <a:latin typeface="Verdana"/>
                      <a:ea typeface="+mn-ea"/>
                      <a:cs typeface="+mn-cs"/>
                    </a:rPr>
                    <a:t/>
                  </a:r>
                  <a:r>
                    <a:rPr kumimoji="0" lang="en-GB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5F5F5F"/>
                      </a:solidFill>
                      <a:effectLst/>
                      <a:uLnTx/>
                      <a:uFillTx/>
                      <a:latin typeface="Verdana"/>
                      <a:ea typeface="+mn-ea"/>
                      <a:cs typeface="+mn-cs"/>
                    </a:rPr>
                    <a:t/>
                  </a:r>
                  <a:r>
                    <a:rPr kumimoji="0" lang="en-GB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5F5F5F"/>
                      </a:solidFill>
                      <a:effectLst/>
                      <a:uLnTx/>
                      <a:uFillTx/>
                      <a:latin typeface="Verdana"/>
                      <a:ea typeface="+mn-ea"/>
                      <a:cs typeface="+mn-cs"/>
                    </a:rPr>
                    <a:t/>
                  </a:r>
                  <a:r>
                    <a:rPr kumimoji="0" lang="en-GB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5F5F5F"/>
                      </a:solidFill>
                      <a:effectLst/>
                      <a:uLnTx/>
                      <a:uFillTx/>
                      <a:latin typeface="Verdana"/>
                      <a:ea typeface="+mn-ea"/>
                      <a:cs typeface="+mn-cs"/>
                    </a:rPr>
                    <a:t/>
                  </a:r>
                  <a:r>
                    <a:rPr kumimoji="0" lang="en-GB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5F5F5F"/>
                      </a:solidFill>
                      <a:effectLst/>
                      <a:uLnTx/>
                      <a:uFillTx/>
                      <a:latin typeface="Verdana"/>
                      <a:ea typeface="+mn-ea"/>
                      <a:cs typeface="+mn-cs"/>
                    </a:rPr>
                    <a:t/>
                  </a:r>
                </a:p>
              </p:txBody>
            </p:sp>
          </p:grpSp>
          <p:sp>
            <p:nvSpPr>
              <p:cNvPr id="88" name="Rectangle: Rounded Corners 14">
                <a:extLst>
                  <a:ext uri="{FF2B5EF4-FFF2-40B4-BE49-F238E27FC236}">
                    <a16:creationId xmlns:a16="http://schemas.microsoft.com/office/drawing/2014/main" id="{E7AC2B88-1C33-42E3-BC05-B91C8EE44FB8}"/>
                  </a:ext>
                </a:extLst>
              </p:cNvPr>
              <p:cNvSpPr/>
              <p:nvPr/>
            </p:nvSpPr>
            <p:spPr>
              <a:xfrm>
                <a:off x="527264" y="2456265"/>
                <a:ext cx="1190840" cy="248042"/>
              </a:xfrm>
              <a:prstGeom prst="round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000" kern="0" dirty="0">
                    <a:solidFill>
                      <a:srgbClr val="5F5F5F"/>
                    </a:solidFill>
                    <a:latin typeface="Verdana"/>
                  </a:rPr>
                  <a:t>SAP</a:t>
                </a:r>
                <a:endParaRPr kumimoji="0" lang="en-GB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p:grpSp>
        <p:grpSp>
          <p:nvGrpSpPr>
            <p:cNvPr id="52" name="Group 97">
              <a:extLst>
                <a:ext uri="{FF2B5EF4-FFF2-40B4-BE49-F238E27FC236}">
                  <a16:creationId xmlns:a16="http://schemas.microsoft.com/office/drawing/2014/main" id="{6D2B53E5-145E-4C38-B699-A8083F99D5E1}"/>
                </a:ext>
              </a:extLst>
            </p:cNvPr>
            <p:cNvGrpSpPr/>
            <p:nvPr/>
          </p:nvGrpSpPr>
          <p:grpSpPr>
            <a:xfrm>
              <a:off x="3359891" y="2942040"/>
              <a:ext cx="1190840" cy="850419"/>
              <a:chOff x="3359891" y="2456265"/>
              <a:chExt cx="1190840" cy="850419"/>
            </a:xfrm>
          </p:grpSpPr>
          <p:grpSp>
            <p:nvGrpSpPr>
              <p:cNvPr id="83" name="Group 7">
                <a:extLst>
                  <a:ext uri="{FF2B5EF4-FFF2-40B4-BE49-F238E27FC236}">
                    <a16:creationId xmlns:a16="http://schemas.microsoft.com/office/drawing/2014/main" id="{9A55469F-5117-48A3-ACFD-B6380C2534FC}"/>
                  </a:ext>
                </a:extLst>
              </p:cNvPr>
              <p:cNvGrpSpPr/>
              <p:nvPr/>
            </p:nvGrpSpPr>
            <p:grpSpPr>
              <a:xfrm>
                <a:off x="3359891" y="2796624"/>
                <a:ext cx="1190840" cy="510060"/>
                <a:chOff x="4243463" y="420728"/>
                <a:chExt cx="1124190" cy="387660"/>
              </a:xfrm>
            </p:grpSpPr>
            <p:sp>
              <p:nvSpPr>
                <p:cNvPr id="85" name="Arrow: Chevron 32">
                  <a:extLst>
                    <a:ext uri="{FF2B5EF4-FFF2-40B4-BE49-F238E27FC236}">
                      <a16:creationId xmlns:a16="http://schemas.microsoft.com/office/drawing/2014/main" id="{12F62D66-AC6E-477F-A27A-ACE61DD9E9FF}"/>
                    </a:ext>
                  </a:extLst>
                </p:cNvPr>
                <p:cNvSpPr/>
                <p:nvPr/>
              </p:nvSpPr>
              <p:spPr>
                <a:xfrm>
                  <a:off x="4243463" y="420728"/>
                  <a:ext cx="1124190" cy="314110"/>
                </a:xfrm>
                <a:prstGeom prst="chevron">
                  <a:avLst/>
                </a:prstGeom>
                <a:solidFill>
                  <a:srgbClr val="FF7900"/>
                </a:solidFill>
                <a:ln w="25400" cap="flat" cmpd="sng" algn="ctr">
                  <a:solidFill>
                    <a:srgbClr val="FF79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800" b="0" i="0" u="none" strike="noStrike" kern="0" cap="none" spc="0" normalizeH="0" baseline="0" noProof="0">
                    <a:ln>
                      <a:noFill/>
                    </a:ln>
                    <a:solidFill>
                      <a:schemeClr val="bg2">
                        <a:lumMod val="90000"/>
                      </a:schemeClr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Rectangle: Rounded Corners 33">
                  <a:extLst>
                    <a:ext uri="{FF2B5EF4-FFF2-40B4-BE49-F238E27FC236}">
                      <a16:creationId xmlns:a16="http://schemas.microsoft.com/office/drawing/2014/main" id="{3C550783-A0E5-430F-BB09-502EFACDD808}"/>
                    </a:ext>
                  </a:extLst>
                </p:cNvPr>
                <p:cNvSpPr/>
                <p:nvPr/>
              </p:nvSpPr>
              <p:spPr>
                <a:xfrm>
                  <a:off x="4470690" y="509276"/>
                  <a:ext cx="715143" cy="299112"/>
                </a:xfrm>
                <a:prstGeom prst="roundRect">
                  <a:avLst/>
                </a:prstGeom>
                <a:solidFill>
                  <a:srgbClr val="FFFFFF"/>
                </a:solidFill>
                <a:ln w="25400" cap="flat" cmpd="sng" algn="ctr">
                  <a:solidFill>
                    <a:srgbClr val="FF79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GB" sz="800" kern="0" dirty="0">
                      <a:solidFill>
                        <a:srgbClr val="5F5F5F"/>
                      </a:solidFill>
                      <a:latin typeface="Verdana"/>
                    </a:rPr>
                    <a:t>OCR</a:t>
                  </a:r>
                  <a:endPara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5F5F5F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4" name="Rectangle: Rounded Corners 15">
                <a:extLst>
                  <a:ext uri="{FF2B5EF4-FFF2-40B4-BE49-F238E27FC236}">
                    <a16:creationId xmlns:a16="http://schemas.microsoft.com/office/drawing/2014/main" id="{BA2A211D-A4A5-4B16-9156-88E082DAE316}"/>
                  </a:ext>
                </a:extLst>
              </p:cNvPr>
              <p:cNvSpPr/>
              <p:nvPr/>
            </p:nvSpPr>
            <p:spPr>
              <a:xfrm>
                <a:off x="3359891" y="2456265"/>
                <a:ext cx="1190840" cy="248042"/>
              </a:xfrm>
              <a:prstGeom prst="round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000" kern="0" dirty="0">
                    <a:solidFill>
                      <a:srgbClr val="5F5F5F"/>
                    </a:solidFill>
                    <a:latin typeface="Verdana"/>
                  </a:rPr>
                  <a:t>ECM</a:t>
                </a:r>
                <a:endParaRPr kumimoji="0" lang="en-GB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Group 96">
              <a:extLst>
                <a:ext uri="{FF2B5EF4-FFF2-40B4-BE49-F238E27FC236}">
                  <a16:creationId xmlns:a16="http://schemas.microsoft.com/office/drawing/2014/main" id="{EBC4287F-A01C-4F38-B0C0-28285A9E5EB8}"/>
                </a:ext>
              </a:extLst>
            </p:cNvPr>
            <p:cNvGrpSpPr/>
            <p:nvPr/>
          </p:nvGrpSpPr>
          <p:grpSpPr>
            <a:xfrm>
              <a:off x="1943706" y="2942040"/>
              <a:ext cx="1190840" cy="850419"/>
              <a:chOff x="1943706" y="2456265"/>
              <a:chExt cx="1190840" cy="850419"/>
            </a:xfrm>
          </p:grpSpPr>
          <p:grpSp>
            <p:nvGrpSpPr>
              <p:cNvPr id="79" name="Group 8">
                <a:extLst>
                  <a:ext uri="{FF2B5EF4-FFF2-40B4-BE49-F238E27FC236}">
                    <a16:creationId xmlns:a16="http://schemas.microsoft.com/office/drawing/2014/main" id="{066CFA1D-2874-4997-B0CA-442B009B45FE}"/>
                  </a:ext>
                </a:extLst>
              </p:cNvPr>
              <p:cNvGrpSpPr/>
              <p:nvPr/>
            </p:nvGrpSpPr>
            <p:grpSpPr>
              <a:xfrm>
                <a:off x="1943706" y="2796624"/>
                <a:ext cx="1190840" cy="510060"/>
                <a:chOff x="2921906" y="420728"/>
                <a:chExt cx="1124190" cy="387660"/>
              </a:xfrm>
            </p:grpSpPr>
            <p:sp>
              <p:nvSpPr>
                <p:cNvPr id="81" name="Arrow: Chevron 30">
                  <a:extLst>
                    <a:ext uri="{FF2B5EF4-FFF2-40B4-BE49-F238E27FC236}">
                      <a16:creationId xmlns:a16="http://schemas.microsoft.com/office/drawing/2014/main" id="{98F2B4DF-DAA3-4FFC-9ACB-8756C0123F26}"/>
                    </a:ext>
                  </a:extLst>
                </p:cNvPr>
                <p:cNvSpPr/>
                <p:nvPr/>
              </p:nvSpPr>
              <p:spPr>
                <a:xfrm>
                  <a:off x="2921906" y="420728"/>
                  <a:ext cx="1124190" cy="314110"/>
                </a:xfrm>
                <a:prstGeom prst="chevron">
                  <a:avLst/>
                </a:prstGeom>
                <a:solidFill>
                  <a:srgbClr val="FF7900"/>
                </a:solidFill>
                <a:ln w="25400" cap="flat" cmpd="sng" algn="ctr">
                  <a:solidFill>
                    <a:srgbClr val="FF79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5F5F5F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endParaRPr>
                </a:p>
              </p:txBody>
            </p:sp>
            <p:sp>
              <p:nvSpPr>
                <p:cNvPr id="82" name="Rectangle: Rounded Corners 31">
                  <a:extLst>
                    <a:ext uri="{FF2B5EF4-FFF2-40B4-BE49-F238E27FC236}">
                      <a16:creationId xmlns:a16="http://schemas.microsoft.com/office/drawing/2014/main" id="{68E86479-659C-46D2-B08B-384E1188C18D}"/>
                    </a:ext>
                  </a:extLst>
                </p:cNvPr>
                <p:cNvSpPr/>
                <p:nvPr/>
              </p:nvSpPr>
              <p:spPr>
                <a:xfrm>
                  <a:off x="3149133" y="509276"/>
                  <a:ext cx="715143" cy="299112"/>
                </a:xfrm>
                <a:prstGeom prst="roundRect">
                  <a:avLst/>
                </a:prstGeom>
                <a:solidFill>
                  <a:srgbClr val="FFFFFF"/>
                </a:solidFill>
                <a:ln w="25400" cap="flat" cmpd="sng" algn="ctr">
                  <a:solidFill>
                    <a:srgbClr val="FF7900"/>
                  </a:solidFill>
                  <a:prstDash val="solid"/>
                </a:ln>
                <a:effectLst/>
              </p:spPr>
              <p:txBody>
                <a:bodyPr lIns="36000" rIns="36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GB" sz="800" kern="0" dirty="0">
                      <a:solidFill>
                        <a:srgbClr val="5F5F5F"/>
                      </a:solidFill>
                      <a:latin typeface="Verdana"/>
                    </a:rPr>
                    <a:t>Invoices</a:t>
                  </a:r>
                  <a:endParaRPr kumimoji="0" lang="en-GB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5F5F5F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0" name="Rectangle: Rounded Corners 16">
                <a:extLst>
                  <a:ext uri="{FF2B5EF4-FFF2-40B4-BE49-F238E27FC236}">
                    <a16:creationId xmlns:a16="http://schemas.microsoft.com/office/drawing/2014/main" id="{D3D4A205-C850-4F76-84E8-1D17C83E62AE}"/>
                  </a:ext>
                </a:extLst>
              </p:cNvPr>
              <p:cNvSpPr/>
              <p:nvPr/>
            </p:nvSpPr>
            <p:spPr>
              <a:xfrm>
                <a:off x="1943706" y="2456265"/>
                <a:ext cx="1190840" cy="248042"/>
              </a:xfrm>
              <a:prstGeom prst="round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000" kern="0" dirty="0">
                    <a:solidFill>
                      <a:srgbClr val="5F5F5F"/>
                    </a:solidFill>
                    <a:latin typeface="Verdana"/>
                  </a:rPr>
                  <a:t>Outlook </a:t>
                </a:r>
                <a:endParaRPr kumimoji="0" lang="en-GB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p:grpSp>
        <p:grpSp>
          <p:nvGrpSpPr>
            <p:cNvPr id="54" name="Group 98">
              <a:extLst>
                <a:ext uri="{FF2B5EF4-FFF2-40B4-BE49-F238E27FC236}">
                  <a16:creationId xmlns:a16="http://schemas.microsoft.com/office/drawing/2014/main" id="{821A633A-BF37-4CAC-B8E1-9BABE66A9355}"/>
                </a:ext>
              </a:extLst>
            </p:cNvPr>
            <p:cNvGrpSpPr/>
            <p:nvPr/>
          </p:nvGrpSpPr>
          <p:grpSpPr>
            <a:xfrm>
              <a:off x="4732834" y="2942040"/>
              <a:ext cx="1190840" cy="850421"/>
              <a:chOff x="4732834" y="2456265"/>
              <a:chExt cx="1190840" cy="850421"/>
            </a:xfrm>
          </p:grpSpPr>
          <p:grpSp>
            <p:nvGrpSpPr>
              <p:cNvPr id="75" name="Group 9">
                <a:extLst>
                  <a:ext uri="{FF2B5EF4-FFF2-40B4-BE49-F238E27FC236}">
                    <a16:creationId xmlns:a16="http://schemas.microsoft.com/office/drawing/2014/main" id="{5890096F-C8B8-4DD0-BFFA-27811C49DFF6}"/>
                  </a:ext>
                </a:extLst>
              </p:cNvPr>
              <p:cNvGrpSpPr/>
              <p:nvPr/>
            </p:nvGrpSpPr>
            <p:grpSpPr>
              <a:xfrm>
                <a:off x="4732834" y="2796624"/>
                <a:ext cx="1190840" cy="510062"/>
                <a:chOff x="5565019" y="420727"/>
                <a:chExt cx="1124190" cy="387661"/>
              </a:xfrm>
            </p:grpSpPr>
            <p:sp>
              <p:nvSpPr>
                <p:cNvPr id="77" name="Arrow: Chevron 28">
                  <a:extLst>
                    <a:ext uri="{FF2B5EF4-FFF2-40B4-BE49-F238E27FC236}">
                      <a16:creationId xmlns:a16="http://schemas.microsoft.com/office/drawing/2014/main" id="{AF8A9928-3CBE-4D84-B3BD-E06AABA27C7A}"/>
                    </a:ext>
                  </a:extLst>
                </p:cNvPr>
                <p:cNvSpPr/>
                <p:nvPr/>
              </p:nvSpPr>
              <p:spPr>
                <a:xfrm>
                  <a:off x="5565019" y="420727"/>
                  <a:ext cx="1124190" cy="314110"/>
                </a:xfrm>
                <a:prstGeom prst="chevron">
                  <a:avLst/>
                </a:prstGeom>
                <a:solidFill>
                  <a:srgbClr val="FF7900"/>
                </a:solidFill>
                <a:ln w="25400" cap="flat" cmpd="sng" algn="ctr">
                  <a:solidFill>
                    <a:srgbClr val="FF79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5F5F5F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endParaRPr>
                </a:p>
              </p:txBody>
            </p:sp>
            <p:sp>
              <p:nvSpPr>
                <p:cNvPr id="78" name="Rectangle: Rounded Corners 29">
                  <a:extLst>
                    <a:ext uri="{FF2B5EF4-FFF2-40B4-BE49-F238E27FC236}">
                      <a16:creationId xmlns:a16="http://schemas.microsoft.com/office/drawing/2014/main" id="{75C7FBC6-667B-4C40-B0D6-1908C94937FA}"/>
                    </a:ext>
                  </a:extLst>
                </p:cNvPr>
                <p:cNvSpPr/>
                <p:nvPr/>
              </p:nvSpPr>
              <p:spPr>
                <a:xfrm>
                  <a:off x="5792247" y="509276"/>
                  <a:ext cx="715143" cy="299112"/>
                </a:xfrm>
                <a:prstGeom prst="roundRect">
                  <a:avLst/>
                </a:prstGeom>
                <a:solidFill>
                  <a:srgbClr val="FFFFFF"/>
                </a:solidFill>
                <a:ln w="25400" cap="flat" cmpd="sng" algn="ctr">
                  <a:solidFill>
                    <a:srgbClr val="FF79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GB" sz="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5F5F5F"/>
                      </a:solidFill>
                      <a:effectLst/>
                      <a:uLnTx/>
                      <a:uFillTx/>
                      <a:latin typeface="Verdana"/>
                      <a:ea typeface="+mn-ea"/>
                      <a:cs typeface="+mn-cs"/>
                    </a:rPr>
                    <a:t>POST</a:t>
                  </a:r>
                </a:p>
              </p:txBody>
            </p:sp>
          </p:grpSp>
          <p:sp>
            <p:nvSpPr>
              <p:cNvPr id="76" name="Rectangle: Rounded Corners 17">
                <a:extLst>
                  <a:ext uri="{FF2B5EF4-FFF2-40B4-BE49-F238E27FC236}">
                    <a16:creationId xmlns:a16="http://schemas.microsoft.com/office/drawing/2014/main" id="{44D23EBE-524D-459D-85DB-DD7DFE3D5212}"/>
                  </a:ext>
                </a:extLst>
              </p:cNvPr>
              <p:cNvSpPr/>
              <p:nvPr/>
            </p:nvSpPr>
            <p:spPr>
              <a:xfrm>
                <a:off x="4843352" y="2456265"/>
                <a:ext cx="970059" cy="283289"/>
              </a:xfrm>
              <a:prstGeom prst="round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5F5F5F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ECM</a:t>
                </a:r>
              </a:p>
            </p:txBody>
          </p:sp>
        </p:grpSp>
      </p:grpSp>
      <p:sp>
        <p:nvSpPr>
          <p:cNvPr id="107" name="TextBox 3">
            <a:extLst>
              <a:ext uri="{FF2B5EF4-FFF2-40B4-BE49-F238E27FC236}">
                <a16:creationId xmlns:a16="http://schemas.microsoft.com/office/drawing/2014/main" id="{3D627DD5-1C1D-4023-9ECC-5C6E9A9DE55D}"/>
              </a:ext>
            </a:extLst>
          </p:cNvPr>
          <p:cNvSpPr txBox="1"/>
          <p:nvPr/>
        </p:nvSpPr>
        <p:spPr>
          <a:xfrm>
            <a:off x="1174472" y="2379011"/>
            <a:ext cx="1331886" cy="1704752"/>
          </a:xfrm>
          <a:prstGeom prst="rect">
            <a:avLst/>
          </a:prstGeom>
          <a:noFill/>
          <a:ln>
            <a:solidFill>
              <a:srgbClr val="FF7900"/>
            </a:solidFill>
          </a:ln>
        </p:spPr>
        <p:txBody>
          <a:bodyPr wrap="square" lIns="72000" rIns="72000" rtlCol="0">
            <a:no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>Transport costs with integration issues (prices not calculated, routes not recorded…) are reviewed daily.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erdana"/>
              </a:rPr>
              <a:t/>
            </a:r>
          </a:p>
        </p:txBody>
      </p:sp>
      <p:sp>
        <p:nvSpPr>
          <p:cNvPr id="108" name="TextBox 36">
            <a:extLst>
              <a:ext uri="{FF2B5EF4-FFF2-40B4-BE49-F238E27FC236}">
                <a16:creationId xmlns:a16="http://schemas.microsoft.com/office/drawing/2014/main" id="{4A927910-E4A3-4379-8EEA-12A58C0DF8B6}"/>
              </a:ext>
            </a:extLst>
          </p:cNvPr>
          <p:cNvSpPr txBox="1"/>
          <p:nvPr/>
        </p:nvSpPr>
        <p:spPr>
          <a:xfrm>
            <a:off x="4123372" y="2379012"/>
            <a:ext cx="1331373" cy="1704752"/>
          </a:xfrm>
          <a:prstGeom prst="rect">
            <a:avLst/>
          </a:prstGeom>
          <a:noFill/>
          <a:ln>
            <a:solidFill>
              <a:srgbClr val="FF7900"/>
            </a:solidFill>
          </a:ln>
        </p:spPr>
        <p:txBody>
          <a:bodyPr wrap="square" lIns="72000" rIns="72000" rtlCol="0">
            <a:no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Verdana"/>
              </a:rPr>
              <a:t>Invoice verification.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Verdana"/>
              </a:rPr>
              <a:t/>
            </a:r>
          </a:p>
        </p:txBody>
      </p:sp>
      <p:sp>
        <p:nvSpPr>
          <p:cNvPr id="109" name="TextBox 37">
            <a:extLst>
              <a:ext uri="{FF2B5EF4-FFF2-40B4-BE49-F238E27FC236}">
                <a16:creationId xmlns:a16="http://schemas.microsoft.com/office/drawing/2014/main" id="{37F7E420-E9FA-4A38-9889-7BE1709FD3FF}"/>
              </a:ext>
            </a:extLst>
          </p:cNvPr>
          <p:cNvSpPr txBox="1"/>
          <p:nvPr/>
        </p:nvSpPr>
        <p:spPr>
          <a:xfrm>
            <a:off x="2648922" y="2379011"/>
            <a:ext cx="1331886" cy="1704753"/>
          </a:xfrm>
          <a:prstGeom prst="rect">
            <a:avLst/>
          </a:prstGeom>
          <a:noFill/>
          <a:ln>
            <a:solidFill>
              <a:srgbClr val="FF7900"/>
            </a:solidFill>
          </a:ln>
        </p:spPr>
        <p:txBody>
          <a:bodyPr wrap="square" lIns="72000" rIns="72000" rtlCol="0">
            <a:no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 kern="0" dirty="0">
                <a:solidFill>
                  <a:srgbClr val="5F5F5F"/>
                </a:solidFill>
                <a:latin typeface="Verdana"/>
              </a:rPr>
              <a:t>Connected to OCR</a:t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Verdana"/>
            </a:endParaRPr>
          </a:p>
        </p:txBody>
      </p:sp>
      <p:sp>
        <p:nvSpPr>
          <p:cNvPr id="110" name="TextBox 38">
            <a:extLst>
              <a:ext uri="{FF2B5EF4-FFF2-40B4-BE49-F238E27FC236}">
                <a16:creationId xmlns:a16="http://schemas.microsoft.com/office/drawing/2014/main" id="{24DE58BE-00D8-449D-8789-1E289C571BA6}"/>
              </a:ext>
            </a:extLst>
          </p:cNvPr>
          <p:cNvSpPr txBox="1"/>
          <p:nvPr/>
        </p:nvSpPr>
        <p:spPr>
          <a:xfrm>
            <a:off x="5630981" y="2379015"/>
            <a:ext cx="1245400" cy="1704750"/>
          </a:xfrm>
          <a:prstGeom prst="rect">
            <a:avLst/>
          </a:prstGeom>
          <a:noFill/>
          <a:ln>
            <a:solidFill>
              <a:srgbClr val="FF7900"/>
            </a:solidFill>
          </a:ln>
        </p:spPr>
        <p:txBody>
          <a:bodyPr wrap="square" lIns="72000" rIns="72000" rtlCol="0">
            <a:no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 kern="0" dirty="0">
                <a:solidFill>
                  <a:srgbClr val="5F5F5F"/>
                </a:solidFill>
                <a:latin typeface="Verdana"/>
              </a:rPr>
              <a:t>Document posting.</a:t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800" kern="0" dirty="0">
              <a:solidFill>
                <a:srgbClr val="5F5F5F"/>
              </a:solidFill>
              <a:latin typeface="Verdana"/>
            </a:endParaRP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800" kern="0" dirty="0">
                <a:solidFill>
                  <a:srgbClr val="5F5F5F"/>
                </a:solidFill>
                <a:latin typeface="Verdana"/>
              </a:rPr>
              <a:t>Dispute management with the plant.</a:t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kern="0" dirty="0">
                <a:solidFill>
                  <a:srgbClr val="5F5F5F"/>
                </a:solidFill>
                <a:latin typeface="Verdana"/>
              </a:rPr>
              <a:t/>
            </a:r>
            <a:r>
              <a:rPr lang="en-US" sz="800" b="1" kern="0" dirty="0">
                <a:solidFill>
                  <a:srgbClr val="5F5F5F"/>
                </a:solidFill>
                <a:latin typeface="Verdana"/>
              </a:rPr>
              <a:t/>
            </a: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Verdana"/>
            </a:endParaRPr>
          </a:p>
        </p:txBody>
      </p:sp>
      <p:sp>
        <p:nvSpPr>
          <p:cNvPr id="7" name="Rectangle: Rounded Corners 14">
            <a:extLst>
              <a:ext uri="{FF2B5EF4-FFF2-40B4-BE49-F238E27FC236}">
                <a16:creationId xmlns:a16="http://schemas.microsoft.com/office/drawing/2014/main" id="{6D9DAEF3-A7A6-C37D-863E-EB1ED3995777}"/>
              </a:ext>
            </a:extLst>
          </p:cNvPr>
          <p:cNvSpPr/>
          <p:nvPr/>
        </p:nvSpPr>
        <p:spPr>
          <a:xfrm>
            <a:off x="1174472" y="4219108"/>
            <a:ext cx="1207573" cy="248042"/>
          </a:xfrm>
          <a:prstGeom prst="round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kern="0" dirty="0">
                <a:solidFill>
                  <a:srgbClr val="FF0000"/>
                </a:solidFill>
                <a:latin typeface="Verdana"/>
              </a:rPr>
              <a:t>Transfer to Mill</a:t>
            </a: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1" name="Rectangle: Rounded Corners 14">
            <a:extLst>
              <a:ext uri="{FF2B5EF4-FFF2-40B4-BE49-F238E27FC236}">
                <a16:creationId xmlns:a16="http://schemas.microsoft.com/office/drawing/2014/main" id="{A3619B1B-C867-96AD-8D95-B9B8391EE52C}"/>
              </a:ext>
            </a:extLst>
          </p:cNvPr>
          <p:cNvSpPr/>
          <p:nvPr/>
        </p:nvSpPr>
        <p:spPr>
          <a:xfrm>
            <a:off x="5630981" y="4355997"/>
            <a:ext cx="1207573" cy="248042"/>
          </a:xfrm>
          <a:prstGeom prst="round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Include DN field in ECM; remove PO as a mandatory field.</a:t>
            </a:r>
            <a:r>
              <a:rPr kumimoji="0" lang="en-GB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/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r>
              <a:rPr lang="en-GB" sz="900" kern="0" dirty="0">
                <a:solidFill>
                  <a:srgbClr val="FF0000"/>
                </a:solidFill>
                <a:latin typeface="Verdana"/>
              </a:rPr>
              <a:t/>
            </a:r>
            <a:endParaRPr kumimoji="0" lang="en-GB" sz="9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3804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40FA531-EE37-4A54-923F-D29E766F5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365" y="404845"/>
            <a:ext cx="8100000" cy="414170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+mn-lt"/>
              </a:rPr>
              <a:t>Matchpay – Actions to reach TO BE</a:t>
            </a:r>
          </a:p>
        </p:txBody>
      </p:sp>
      <p:sp>
        <p:nvSpPr>
          <p:cNvPr id="101" name="Card 1"/>
          <p:cNvSpPr/>
          <p:nvPr/>
        </p:nvSpPr>
        <p:spPr>
          <a:xfrm>
            <a:off x="516365" y="1100000"/>
            <a:ext cx="3960000" cy="40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82880" tIns="700000" rIns="182880" bIns="182880" rtlCol="0" anchor="t">
            <a:noAutofit/>
          </a:bodyPr>
          <a:lstStyle/>
          <a:p>
            <a:pPr marL="228600" indent="-228600" algn="l">
              <a:spcAft>
                <a:spcPts val="900"/>
              </a:spcAft>
              <a:buClr>
                <a:srgbClr val="FF7900"/>
              </a:buClr>
              <a:buFont typeface="Arial"/>
              <a:buChar char="•"/>
            </a:pPr>
            <a:r>
              <a:rPr lang="en-GB" sz="1400" b="0" dirty="0">
                <a:solidFill>
                  <a:srgbClr val="333333"/>
                </a:solidFill>
                <a:latin typeface="Verdana"/>
              </a:rPr>
              <a:t>Bring order information through the GR (goods receipt). ECM currently only works with the PO number.</a:t>
            </a:r>
          </a:p>
          <a:p>
            <a:pPr marL="228600" indent="-228600" algn="l">
              <a:spcAft>
                <a:spcPts val="900"/>
              </a:spcAft>
              <a:buClr>
                <a:srgbClr val="FF7900"/>
              </a:buClr>
              <a:buFont typeface="Arial"/>
              <a:buChar char="•"/>
            </a:pPr>
            <a:r>
              <a:rPr lang="en-GB" sz="1400" b="0" dirty="0">
                <a:solidFill>
                  <a:srgbClr val="333333"/>
                </a:solidFill>
                <a:latin typeface="Verdana"/>
              </a:rPr>
              <a:t>Enable the transport order type in ECM.</a:t>
            </a:r>
          </a:p>
          <a:p>
            <a:pPr marL="228600" indent="-228600" algn="l">
              <a:spcAft>
                <a:spcPts val="900"/>
              </a:spcAft>
              <a:buClr>
                <a:srgbClr val="FF7900"/>
              </a:buClr>
              <a:buFont typeface="Arial"/>
              <a:buChar char="•"/>
            </a:pPr>
            <a:r>
              <a:rPr lang="en-GB" sz="1400" b="0" dirty="0">
                <a:solidFill>
                  <a:srgbClr val="333333"/>
                </a:solidFill>
                <a:latin typeface="Verdana"/>
              </a:rPr>
              <a:t>Workflow to the plant.</a:t>
            </a:r>
          </a:p>
          <a:p>
            <a:pPr marL="228600" indent="-228600" algn="l">
              <a:spcAft>
                <a:spcPts val="900"/>
              </a:spcAft>
              <a:buClr>
                <a:srgbClr val="FF7900"/>
              </a:buClr>
              <a:buFont typeface="Arial"/>
              <a:buChar char="•"/>
            </a:pPr>
            <a:r>
              <a:rPr lang="en-GB" sz="1400" b="0" dirty="0">
                <a:solidFill>
                  <a:srgbClr val="333333"/>
                </a:solidFill>
                <a:latin typeface="Verdana"/>
              </a:rPr>
              <a:t>ECM training for users.</a:t>
            </a:r>
          </a:p>
        </p:txBody>
      </p:sp>
      <p:sp>
        <p:nvSpPr>
          <p:cNvPr id="102" name="Header 1"/>
          <p:cNvSpPr/>
          <p:nvPr/>
        </p:nvSpPr>
        <p:spPr>
          <a:xfrm>
            <a:off x="516365" y="1100000"/>
            <a:ext cx="3960000" cy="560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wrap="square" lIns="182880" tIns="182880" rIns="182880" bIns="18288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GB" sz="1600" b="1" dirty="0">
                <a:solidFill>
                  <a:srgbClr val="FFFFFF"/>
                </a:solidFill>
                <a:latin typeface="Verdana"/>
              </a:rPr>
              <a:t>ECM</a:t>
            </a:r>
          </a:p>
        </p:txBody>
      </p:sp>
      <p:sp>
        <p:nvSpPr>
          <p:cNvPr id="103" name="Card 2"/>
          <p:cNvSpPr/>
          <p:nvPr/>
        </p:nvSpPr>
        <p:spPr>
          <a:xfrm>
            <a:off x="4776365" y="1100000"/>
            <a:ext cx="3960000" cy="40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82880" tIns="700000" rIns="182880" bIns="182880" rtlCol="0" anchor="t">
            <a:noAutofit/>
          </a:bodyPr>
          <a:lstStyle/>
          <a:p>
            <a:pPr marL="228600" indent="-228600" algn="l">
              <a:spcAft>
                <a:spcPts val="900"/>
              </a:spcAft>
              <a:buClr>
                <a:srgbClr val="FF7900"/>
              </a:buClr>
              <a:buFont typeface="Arial"/>
              <a:buChar char="•"/>
            </a:pPr>
            <a:r>
              <a:rPr lang="en-GB" sz="1400" b="0" dirty="0">
                <a:solidFill>
                  <a:srgbClr val="333333"/>
                </a:solidFill>
                <a:latin typeface="Verdana"/>
              </a:rPr>
              <a:t>Communicate the invoice mailbox to suppliers.</a:t>
            </a:r>
          </a:p>
          <a:p>
            <a:pPr marL="228600" indent="-228600" algn="l">
              <a:spcAft>
                <a:spcPts val="900"/>
              </a:spcAft>
              <a:buClr>
                <a:srgbClr val="FF7900"/>
              </a:buClr>
              <a:buFont typeface="Arial"/>
              <a:buChar char="•"/>
            </a:pPr>
            <a:r>
              <a:rPr lang="en-GB" sz="1400" b="0" dirty="0">
                <a:solidFill>
                  <a:srgbClr val="333333"/>
                </a:solidFill>
                <a:latin typeface="Verdana"/>
              </a:rPr>
              <a:t>The Matchpay incident mailbox, used to email suppliers, would move to plant management or be discontinued.</a:t>
            </a:r>
          </a:p>
        </p:txBody>
      </p:sp>
      <p:sp>
        <p:nvSpPr>
          <p:cNvPr id="104" name="Header 2"/>
          <p:cNvSpPr/>
          <p:nvPr/>
        </p:nvSpPr>
        <p:spPr>
          <a:xfrm>
            <a:off x="4776365" y="1100000"/>
            <a:ext cx="3960000" cy="5600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txBody>
          <a:bodyPr wrap="square" lIns="182880" tIns="182880" rIns="182880" bIns="18288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GB" sz="1600" b="1" dirty="0">
                <a:solidFill>
                  <a:srgbClr val="FFFFFF"/>
                </a:solidFill>
                <a:latin typeface="Verdana"/>
              </a:rPr>
              <a:t>SUPPLIER COMMUNICATION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9FCD4081890A4DB648632DAF52E7BF" ma:contentTypeVersion="14" ma:contentTypeDescription="Create a new document." ma:contentTypeScope="" ma:versionID="936d94508d1eacc77deb7874c7fee060">
  <xsd:schema xmlns:xsd="http://www.w3.org/2001/XMLSchema" xmlns:xs="http://www.w3.org/2001/XMLSchema" xmlns:p="http://schemas.microsoft.com/office/2006/metadata/properties" xmlns:ns3="998a2185-72b5-4beb-a0e7-5f1451e879f4" xmlns:ns4="ea2da485-5c83-449f-a9ee-8e40e2f51504" targetNamespace="http://schemas.microsoft.com/office/2006/metadata/properties" ma:root="true" ma:fieldsID="76bf134687f3a32bca21e588bc64a0d2" ns3:_="" ns4:_="">
    <xsd:import namespace="998a2185-72b5-4beb-a0e7-5f1451e879f4"/>
    <xsd:import namespace="ea2da485-5c83-449f-a9ee-8e40e2f5150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8a2185-72b5-4beb-a0e7-5f1451e879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2da485-5c83-449f-a9ee-8e40e2f5150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5A9ACB8-51CA-4F55-BCA0-C6D93F8CB4BF}">
  <ds:schemaRefs>
    <ds:schemaRef ds:uri="http://purl.org/dc/dcmitype/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998a2185-72b5-4beb-a0e7-5f1451e879f4"/>
    <ds:schemaRef ds:uri="http://schemas.microsoft.com/office/infopath/2007/PartnerControls"/>
    <ds:schemaRef ds:uri="ea2da485-5c83-449f-a9ee-8e40e2f51504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AACA8F0-3EC6-4326-B8B5-07C7DE50BC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3E0966-5B7A-4151-A8A1-04D13A4E93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8a2185-72b5-4beb-a0e7-5f1451e879f4"/>
    <ds:schemaRef ds:uri="ea2da485-5c83-449f-a9ee-8e40e2f515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4479</TotalTime>
  <Words>235</Words>
  <Application>Microsoft Office PowerPoint</Application>
  <PresentationFormat>Presentación en pantalla (4:3)</PresentationFormat>
  <Paragraphs>49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Verdana</vt:lpstr>
      <vt:lpstr>Tema de Office</vt:lpstr>
      <vt:lpstr>Matchpay – AS IS</vt:lpstr>
      <vt:lpstr>Matchpay – TO BE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ORGANIZATION CHART - SSC IBERIA</dc:title>
  <dc:creator>Barrios Alfonso</dc:creator>
  <cp:lastModifiedBy>Angela Escobar</cp:lastModifiedBy>
  <cp:revision>72</cp:revision>
  <dcterms:created xsi:type="dcterms:W3CDTF">2021-02-13T11:41:50Z</dcterms:created>
  <dcterms:modified xsi:type="dcterms:W3CDTF">2026-05-19T15:04:31Z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5f6cbc4-f22e-46a2-a187-d6b48aa54b7b_Enabled">
    <vt:lpwstr>True</vt:lpwstr>
  </property>
  <property fmtid="{D5CDD505-2E9C-101B-9397-08002B2CF9AE}" pid="3" name="MSIP_Label_75f6cbc4-f22e-46a2-a187-d6b48aa54b7b_SiteId">
    <vt:lpwstr>423430e8-247c-44d1-9767-22723b7d4cb2</vt:lpwstr>
  </property>
  <property fmtid="{D5CDD505-2E9C-101B-9397-08002B2CF9AE}" pid="4" name="MSIP_Label_75f6cbc4-f22e-46a2-a187-d6b48aa54b7b_Owner">
    <vt:lpwstr>gbalfbar@dssmith.com</vt:lpwstr>
  </property>
  <property fmtid="{D5CDD505-2E9C-101B-9397-08002B2CF9AE}" pid="5" name="MSIP_Label_75f6cbc4-f22e-46a2-a187-d6b48aa54b7b_SetDate">
    <vt:lpwstr>2021-05-31T13:54:46.5572936Z</vt:lpwstr>
  </property>
  <property fmtid="{D5CDD505-2E9C-101B-9397-08002B2CF9AE}" pid="6" name="MSIP_Label_75f6cbc4-f22e-46a2-a187-d6b48aa54b7b_Name">
    <vt:lpwstr>DS Smith Internal</vt:lpwstr>
  </property>
  <property fmtid="{D5CDD505-2E9C-101B-9397-08002B2CF9AE}" pid="7" name="MSIP_Label_75f6cbc4-f22e-46a2-a187-d6b48aa54b7b_Application">
    <vt:lpwstr>Microsoft Azure Information Protection</vt:lpwstr>
  </property>
  <property fmtid="{D5CDD505-2E9C-101B-9397-08002B2CF9AE}" pid="8" name="MSIP_Label_75f6cbc4-f22e-46a2-a187-d6b48aa54b7b_ActionId">
    <vt:lpwstr>9604c782-7c00-4b43-ac07-81c2363eb7f2</vt:lpwstr>
  </property>
  <property fmtid="{D5CDD505-2E9C-101B-9397-08002B2CF9AE}" pid="9" name="MSIP_Label_75f6cbc4-f22e-46a2-a187-d6b48aa54b7b_Extended_MSFT_Method">
    <vt:lpwstr>Manual</vt:lpwstr>
  </property>
  <property fmtid="{D5CDD505-2E9C-101B-9397-08002B2CF9AE}" pid="10" name="Sensitivity">
    <vt:lpwstr>DS Smith Internal</vt:lpwstr>
  </property>
  <property fmtid="{D5CDD505-2E9C-101B-9397-08002B2CF9AE}" pid="11" name="ContentTypeId">
    <vt:lpwstr>0x010100BC9FCD4081890A4DB648632DAF52E7BF</vt:lpwstr>
  </property>
</Properties>
</file>